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381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ple SD Gothic Neo"/>
              </a:rPr>
              <a:t>100회 주기 당첨번호 재출현 통계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D4A017"/>
                </a:solidFill>
                <a:latin typeface="Apple SD Gothic Neo"/>
              </a:rPr>
              <a:t>대상 회차 1127~1226회 (100회) · 200회 이내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C9D3EA"/>
                </a:solidFill>
                <a:latin typeface="Apple SD Gothic Neo"/>
              </a:rPr>
              <a:t>각 회차 당첨번호가 최근 2개 형제 회차(T−100·T−200)에 나왔는지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9AA8C9"/>
                </a:solidFill>
                <a:latin typeface="Apple SD Gothic Neo"/>
              </a:rPr>
              <a:t>2026-05-31 생성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분석 방법 및 요약 통계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방법: 대상 회차 T(1127~1226)의 6개 당첨번호 각각이, 200회 이내 형제 회차</a:t>
            </a:r>
          </a:p>
          <a:p>
            <a:pPr algn="l"/>
            <a:r>
              <a:rPr sz="1400" b="0">
                <a:solidFill>
                  <a:srgbClr val="555555"/>
                </a:solidFill>
                <a:latin typeface="Apple SD Gothic Neo"/>
              </a:rPr>
              <a:t>(T−100·T−200, 예: 1226회 → 1026·1126회)의 당첨번호에 있었는지 확인합니다.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286000"/>
          <a:ext cx="100584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74320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항목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관측값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무작위 기대값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대상 회차 수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100회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총 당첨번호 수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600개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주기 재출현 번호 (형제 1개↑)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158개 (26.3%)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149개 (24.9%)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번호–회차 매칭 총수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171개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160개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회차당 평균 재출현 번호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4E"/>
                          </a:solidFill>
                          <a:latin typeface="Apple SD Gothic Neo"/>
                        </a:rPr>
                        <a:t>1.58개 / 6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1.49개 / 6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48640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0392B"/>
                </a:solidFill>
                <a:latin typeface="Apple SD Gothic Neo"/>
              </a:rPr>
              <a:t>▶ 결론: 관측 재출현율(26.3%)이 무작위 기대치(24.9%)와 거의 같습니다. 즉 '100회 주기 재출현'은</a:t>
            </a:r>
          </a:p>
          <a:p>
            <a:pPr algn="l"/>
            <a:r>
              <a:rPr sz="1300" b="1">
                <a:solidFill>
                  <a:srgbClr val="C0392B"/>
                </a:solidFill>
                <a:latin typeface="Apple SD Gothic Neo"/>
              </a:rPr>
              <a:t>   통계적 우연으로 설명되며, 다음 회차 예측에 쓸 수 있는 신호로 보기는 어렵습니다. (참고용 통계)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회차별 재출현 번호 개수 분포 (6개 중)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0개 재출현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1508760"/>
            <a:ext cx="3291840" cy="457200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1417320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18회 (18%)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75688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1개 재출현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2167128"/>
            <a:ext cx="4572000" cy="457200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2075688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25회 (25%)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34056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2개 재출현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2825496"/>
            <a:ext cx="7315200" cy="4572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2734056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40회 (40%)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92424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3개 재출현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3483864"/>
            <a:ext cx="2743200" cy="457200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3392424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15회 (15%)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50792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4개 재출현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4142232"/>
            <a:ext cx="365760" cy="457200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4050792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2회 (2%)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09160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5개 재출현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4800600"/>
            <a:ext cx="1" cy="457200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1" y="4709160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0회 (0%)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67528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F294E"/>
                </a:solidFill>
                <a:latin typeface="Apple SD Gothic Neo"/>
              </a:rPr>
              <a:t>6개 재출현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5458968"/>
            <a:ext cx="1" cy="457200"/>
          </a:xfrm>
          <a:prstGeom prst="rect">
            <a:avLst/>
          </a:prstGeom>
          <a:solidFill>
            <a:srgbClr val="2E5C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1" y="5367528"/>
            <a:ext cx="2011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0회 (0%)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Apple SD Gothic Neo"/>
              </a:rPr>
              <a:t>대상 100회 중 6개 모두 재출현한 회차 0회 · 5개 0회 · 4개 2회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예시 — 1226회 당첨번호의 100회 주기 재출현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Apple SD Gothic Neo"/>
              </a:rPr>
              <a:t>형제 회차: 1026, 1126회  (총 2개)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0058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85800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당첨번호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재출현한 형제 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횟수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4E"/>
                          </a:solidFill>
                          <a:latin typeface="Apple SD Gothic Neo"/>
                        </a:rPr>
                        <a:t>4번</a:t>
                      </a:r>
                    </a:p>
                  </a:txBody>
                  <a:tcPr anchor="ctr" marT="12700" marB="12700" marL="50800" marR="50800"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1126회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pple SD Gothic Neo"/>
                        </a:rPr>
                        <a:t>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4E"/>
                          </a:solidFill>
                          <a:latin typeface="Apple SD Gothic Neo"/>
                        </a:rPr>
                        <a:t>6번</a:t>
                      </a:r>
                    </a:p>
                  </a:txBody>
                  <a:tcPr anchor="ctr" marT="12700" marB="12700" marL="50800" marR="50800"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55555"/>
                          </a:solidFill>
                          <a:latin typeface="Apple SD Gothic Neo"/>
                        </a:rPr>
                        <a:t>(없음)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pple SD Gothic Neo"/>
                        </a:rPr>
                        <a:t>0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4E"/>
                          </a:solidFill>
                          <a:latin typeface="Apple SD Gothic Neo"/>
                        </a:rPr>
                        <a:t>13번</a:t>
                      </a:r>
                    </a:p>
                  </a:txBody>
                  <a:tcPr anchor="ctr" marT="12700" marB="12700" marL="50800" marR="50800"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4E"/>
                          </a:solidFill>
                          <a:latin typeface="Apple SD Gothic Neo"/>
                        </a:rPr>
                        <a:t>1026회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pple SD Gothic Neo"/>
                        </a:rPr>
                        <a:t>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4E"/>
                          </a:solidFill>
                          <a:latin typeface="Apple SD Gothic Neo"/>
                        </a:rPr>
                        <a:t>17번</a:t>
                      </a:r>
                    </a:p>
                  </a:txBody>
                  <a:tcPr anchor="ctr" marT="12700" marB="12700" marL="50800" marR="50800"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55555"/>
                          </a:solidFill>
                          <a:latin typeface="Apple SD Gothic Neo"/>
                        </a:rPr>
                        <a:t>(없음)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pple SD Gothic Neo"/>
                        </a:rPr>
                        <a:t>0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4E"/>
                          </a:solidFill>
                          <a:latin typeface="Apple SD Gothic Neo"/>
                        </a:rPr>
                        <a:t>26번</a:t>
                      </a:r>
                    </a:p>
                  </a:txBody>
                  <a:tcPr anchor="ctr" marT="12700" marB="12700" marL="50800" marR="50800"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55555"/>
                          </a:solidFill>
                          <a:latin typeface="Apple SD Gothic Neo"/>
                        </a:rPr>
                        <a:t>(없음)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pple SD Gothic Neo"/>
                        </a:rPr>
                        <a:t>0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4E"/>
                          </a:solidFill>
                          <a:latin typeface="Apple SD Gothic Neo"/>
                        </a:rPr>
                        <a:t>28번</a:t>
                      </a:r>
                    </a:p>
                  </a:txBody>
                  <a:tcPr anchor="ctr" marT="12700" marB="12700" marL="50800" marR="50800"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55555"/>
                          </a:solidFill>
                          <a:latin typeface="Apple SD Gothic Neo"/>
                        </a:rPr>
                        <a:t>(없음)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pple SD Gothic Neo"/>
                        </a:rPr>
                        <a:t>0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전체 상세 — 회차별 재출현 번호→회차 (1/4)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78992"/>
          <a:ext cx="1175004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868680"/>
                <a:gridCol w="9738360"/>
              </a:tblGrid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대상회차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 번호 → 나온 형제 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1226회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4→1126 , 13→1026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1225회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8→1025 , 9→1025 , 25→1025·1125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1224회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9→1024 , 18→1024 , 44→1024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1223회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16→1023 , 18→1023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1222회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11→1022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1221회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6→1121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1220회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2→1120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1219회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1→1019·1119 , 39→1019 , 45→1119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1218회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3→1018 , 45→1018·1118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1217회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1216회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15→1016·1116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1215회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1214회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4개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10→1114 , 19→1114 , 27→1014 , 33→1114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1213회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11→1113 , 36→1013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1212회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5→1012 , 44→1112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1211회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26→1011 , 35→1011 , 38→1011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1210회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7→1110 , 9→1010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1209회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1208회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30→1008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1207회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1206회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4개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1→1106 , 3→1106 , 17→1006 , 42→1106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1205회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16→1105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1204회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30→1004·1104 , 44→1004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1203회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29→1003·1103 , 39→1003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9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1202회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33→1002 , 37→1102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전체 상세 — 회차별 재출현 번호→회차 (2/4)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78992"/>
          <a:ext cx="1175004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868680"/>
                <a:gridCol w="9738360"/>
              </a:tblGrid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대상회차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 번호 → 나온 형제 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1201회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7→1101 , 36→1101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1200회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2→1000 , 32→1000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1199회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1198회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41→1098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1197회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7→997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1196회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12→1096 , 15→996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1195회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34→1095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1194회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3→994 , 15→1094 , 24→994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1193회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6→993 , 16→993 , 24→993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1192회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1191회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20→1091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1190회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19→1090 , 26→990 , 45→1090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1189회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29→989 , 37→1089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1188회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22→1088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1187회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13→1087 , 29→987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1186회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16→986·1086 , 28→986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1185회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17→985·1085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1184회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23→984 , 37→984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1183회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15→1083 , 23→983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1182회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13→982 , 21→982·1082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1181회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41→981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1180회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1179회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16→979 , 18→1079 , 24→1079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1178회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6→1078 , 11→1078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9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1177회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43→1077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전체 상세 — 회차별 재출현 번호→회차 (3/4)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78992"/>
          <a:ext cx="1175004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868680"/>
                <a:gridCol w="9738360"/>
              </a:tblGrid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대상회차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 번호 → 나온 형제 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1176회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7→1076 , 9→1076 , 35→976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1175회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8→975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1174회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11→974 , 39→974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1173회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18→1073 , 30→1073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1172회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1171회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6→971 , 11→1071 , 17→971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1170회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3→1070 , 28→970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1169회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1168회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24→968 , 33→1068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1167회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23→1067 , 40→967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1166회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25→966 , 29→966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1165회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29→965 , 45→1065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1164회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18→1064 , 38→964 , 39→964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1163회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1162회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20→1062 , 28→962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1161회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20→961 , 24→1061 , 42→961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1160회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18→960 , 45→960·1060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1159회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1158회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25→1058 , 32→1058 , 37→958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1157회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1156회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41→956 , 45→1056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1155회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1154회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26→954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1153회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9→953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9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1152회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35→1052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ple SD Gothic Neo"/>
              </a:rPr>
              <a:t>전체 상세 — 회차별 재출현 번호→회차 (4/4)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78992"/>
          <a:ext cx="1175004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868680"/>
                <a:gridCol w="9738360"/>
              </a:tblGrid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대상회차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재출현 번호 → 나온 형제 회차</a:t>
                      </a:r>
                    </a:p>
                  </a:txBody>
                  <a:tcPr anchor="ctr" marT="12700" marB="12700" marL="50800" marR="50800">
                    <a:solidFill>
                      <a:srgbClr val="2E5CB8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1151회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2→951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1150회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35→1050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1149회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21→949·1049 , 36→949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1148회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6→1048 , 13→948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1147회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27→947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1146회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19→946 , 40→946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1145회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33→945 , 37→945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1144회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12→1044 , 26→1044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1143회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36→943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1142회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1141회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7→1041 , 11→1041 , 12→941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1140회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3개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22→940 , 29→1040 , 31→1040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1139회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1138회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16→938·1038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1137회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15→1037 , 33→1037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1136회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1135회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1134회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3→934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1133회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20→1033 , 29→933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1132회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6→932·1032 , 19→1032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1131회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6→1031 , 14→931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1130회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21→930 , 25→930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1129회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0개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(재출현 없음)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  <a:tr h="212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1128회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2개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5→1028 , 28→928</a:t>
                      </a:r>
                    </a:p>
                  </a:txBody>
                  <a:tcPr anchor="ctr" marT="12700" marB="12700" marL="50800" marR="50800">
                    <a:solidFill>
                      <a:srgbClr val="EEF2FA"/>
                    </a:solidFill>
                  </a:tcPr>
                </a:tc>
              </a:tr>
              <a:tr h="21279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1127회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4E"/>
                          </a:solidFill>
                          <a:latin typeface="Apple SD Gothic Neo"/>
                        </a:rPr>
                        <a:t>1개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555555"/>
                          </a:solidFill>
                          <a:latin typeface="Apple SD Gothic Neo"/>
                        </a:rPr>
                        <a:t>15→927</a:t>
                      </a:r>
                    </a:p>
                  </a:txBody>
                  <a:tcPr anchor="ctr" marT="12700" marB="12700" marL="50800" marR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