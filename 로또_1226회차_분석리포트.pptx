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1226회차 로또 패턴 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pple SD Gothic Neo"/>
              </a:rPr>
              <a:t>확률 기반 패턴 분석 추천 시스템 v7.3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기준 회차: 1225회  |  22개 패턴 기법 앙상블  |  최근 15회차 백테스트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9"/>
                </a:solidFill>
                <a:latin typeface="Apple SD Gothic Neo"/>
              </a:rPr>
              <a:t>2026-05-30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추천 방식 개선 효과 검증 (최근 15주 백테스트)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지표: 상위 추천 안에 실제 당첨 번호가 평균 몇 개 들어왔는가  ·  무작위 기대값 = 상위6 0.80개 / 상위10 1.33개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7589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방식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상위 6 적중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상위 10 적중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기존(무가중 합산)</a:t>
                      </a:r>
                    </a:p>
                  </a:txBody>
                  <a:tcPr anchor="ctr" marT="12700" marB="12700" marL="50800" marR="50800"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0.60개</a:t>
                      </a:r>
                    </a:p>
                  </a:txBody>
                  <a:tcPr anchor="ctr" marT="12700" marB="12700" marL="50800" marR="50800"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1.33개</a:t>
                      </a:r>
                    </a:p>
                  </a:txBody>
                  <a:tcPr anchor="ctr" marT="12700" marB="12700" marL="50800" marR="50800">
                    <a:solidFill>
                      <a:srgbClr val="F6DA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신규(in-sample 가중)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1.27개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1.93개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walk-forward+순위보정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0.87개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1.73개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신규(walk-forward)  ← 과적합 제거 핵심 지표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0.87개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1.73개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• 기존(무가중 합산)은 상위6 적중이 무작위보다도 낮음 → 사실상 무의미한 랭킹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• 개선(정확도 가중 + 분석기별 정규화) 후 in-sample 1.27개까지 상승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• walk-forward(매주 과거 데이터로만 재학습)에서도 상위10 적중이 무작위 대비 +30%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  → 과적합을 빼도 기존보다 개선. 단, 실제 추첨은 무작위이므로 당첨을 보장하지 않음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최근 15회차 패턴별 예측 정확도 순위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5440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03120"/>
                <a:gridCol w="1280160"/>
                <a:gridCol w="1234440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패턴 기법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정확도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적중/예측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1위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이월수(주기)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25.00%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3/12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2위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장기미출현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22.00%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11/50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3위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오프셋(주기)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20.00%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5/25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5의배수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17.78%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24/135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궁합수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16.59%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34/205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6위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출현주기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16.11%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48/298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7위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3의배수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15.11%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34/225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8위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끝수이월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13.90%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46/331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9위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미출현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13.84%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40/289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고저균형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13.78%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31/225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11위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누적빈도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13.33%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90/675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43000"/>
          <a:ext cx="5440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03120"/>
                <a:gridCol w="1280160"/>
                <a:gridCol w="1234440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패턴 기법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정확도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적중/예측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12위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13.33%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70/525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13위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끝수통계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13.33%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90/675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14위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AC패턴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13.33%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90/675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15위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번호대빈도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13.33%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90/675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16위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멸구간(주기)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11.89%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49/412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17위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최근강세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11.61%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39/336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18위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소수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11.43%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24/210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19위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홀짝균형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11.21%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25/223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20위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연번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10.43%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17/163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21위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이웃수(주기)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10.00%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3/30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22위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대각선(주기)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6.98%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pple SD Gothic Neo"/>
                        </a:rPr>
                        <a:t>3/43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추천 순위 그룹별 당첨 번호 분포 (최근 50주 · 총 300개)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1-5위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89888"/>
            <a:ext cx="7315200" cy="3840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325880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15.00%  (45개)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56232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6-10위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920240"/>
            <a:ext cx="715426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3145" y="1856232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14.67%  (44개)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86584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11-15위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450592"/>
            <a:ext cx="617890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7785" y="2386584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12.67%  (38개)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16936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16-20위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980944"/>
            <a:ext cx="6013094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1974" y="2916936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12.33%  (37개)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47288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21-25위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511296"/>
            <a:ext cx="471586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4745" y="3447288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9.67%  (29개)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40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26-30위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041648"/>
            <a:ext cx="471586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4745" y="3977640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9.67%  (29개)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07992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31-35위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572000"/>
            <a:ext cx="422818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7065" y="4507992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8.67%  (26개)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38344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36-40위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5102352"/>
            <a:ext cx="5203545" cy="384048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2425" y="5038344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10.67%  (32개)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68696"/>
            <a:ext cx="1737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41-45위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632704"/>
            <a:ext cx="3252825" cy="384048"/>
          </a:xfrm>
          <a:prstGeom prst="rect">
            <a:avLst/>
          </a:prstGeom>
          <a:solidFill>
            <a:srgbClr val="B0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1705" y="5568696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6.67%  (20개)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▶ '1-5위' 그룹이 15.00%로 가장 높고 순위가 낮을수록 적중률 감소 (정상 분포) · '41-45위' 최저 6.67%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순위 그룹별 회차 당첨 내역 (최근 50주)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40312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31520"/>
                <a:gridCol w="914400"/>
                <a:gridCol w="8759952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 그룹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당첨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비율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회차별 당첨 번호 (회차,번호(예측순위))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1-5위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45개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pple SD Gothic Neo"/>
                        </a:rPr>
                        <a:t>15.00%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1178,27(4위), 1179,24(5위), 1180,41(4위), 1180,12(3위), 1181,33(1위), 1183,36(3위), 1186,2(4위), 1188,3(2위), 1188,12(3위), 1190,45(2위), 1192,10(1위), 1193,6(2위), 1194,15(2위), 1195,34(1위), 1195,27(2위), 1196,29(4위), 1197,5(5위), 1197,7(4위), 1198,30(4위), 1201,27(3위), 1202,21(3위), 1203,3(4위), 1203,6(5위), 1204,8(5위), 1206,26(4위), 1206,42(1위), 1207,24(2위), 1207,27(3위), 1213,25(5위), 1213,27(4위), 1214,10(3위), 1215,19(5위), 1215,45(4위), 1215,15(3위), 1216,24(2위), 1216,14(1위), 1217,20(5위), 1218,42(3위), 1219,28(4위), 1220,34(1위), 1221,18(2위), 1223,33(4위), 1224,21(3위), 1224,27(5위), 1225,42(5위)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6-10위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44개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14.67%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1176,21(9위), 1177,19(6위), 1177,15(8위), 1179,18(7위), 1181,20(8위), 1181,10(6위), 1182,1(8위), 1182,28(7위), 1183,17(9위), 1183,4(10위), 1185,22(6위), 1186,23(8위), 1189,9(8위), 1191,20(6위), 1192,36(7위), 1194,33(6위), 1196,45(6위), 1198,26(7위), 1199,32(9위), 1199,25(6위), 1199,31(7위), 1200,16(6위), 1200,4(10위), 1200,20(8위), 1201,35(10위), 1202,37(10위), 1203,18(6위), 1204,28(9위), 1205,41(9위), 1207,22(9위), 1207,45(8위), 1208,36(7위), 1210,9(10위), 1211,40(9위), 1216,3(8위), 1220,25(8위), 1220,43(7위), 1221,36(7위), 1221,6(10위), 1221,30(8위), 1222,17(7위), 1224,9(6위), 1225,19(7위), 1225,8(10위)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11-15위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38개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12.67%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1179,40(13위), 1181,14(13위), 1182,25(15위), 1182,31(13위), 1183,23(13위), 1183,15(11위), 1187,5(15위), 1187,40(12위), 1188,19(11위), 1189,35(14위), 1190,26(14위), 1193,24(14위), 1196,8(14위), 1198,38(12위), 1198,41(14위), 1201,9(11위), 1202,12(12위), 1204,44(11위), 1205,23(13위), 1206,17(14위), 1207,38(14위), 1209,20(12위), 1209,37(11위), 1210,7(15위), 1212,5(11위), 1212,8(13위), 1212,25(14위), 1214,33(14위), 1214,15(13위), 1215,21(12위), 1218,32(14위), 1218,28(13위), 1219,1(11위), 1219,2(13위), 1219,39(12위), 1221,13(11위), 1222,41(15위), 1224,44(15위)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16-20위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37개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12.33%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1177,16(20위), 1177,43(19위), 1178,44(20위), 1180,37(17위), 1182,13(19위), 1185,32(18위), 1185,29(19위), 1187,26(16위), 1189,38(19위), 1190,7(19위), 1191,1(18위), 1191,41(17위), 1192,39(19위), 1193,28(17위), 1194,24(20위), 1194,13(17위), 1195,15(19위), 1197,26(16위), 1197,43(20위), 1200,2(18위), 1201,36(18위), 1202,40(19위), 1203,29(16위), 1206,3(20위), 1207,10(16위), 1209,2(16위), 1212,44(19위), 1212,31(18위), 1213,11(16위), 1214,19(17위), 1214,30(20위), 1215,13(19위), 1217,29(19위), 1220,22(16위), 1222,4(19위), 1222,11(16위), 1223,16(18위)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21-25위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29개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9.67%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1176,9(23위), 1176,30(25위), 1178,6(22위), 1180,18(25위), 1182,21(21위), 1183,27(24위), 1188,27(25위), 1191,11(23위), 1193,9(22위), 1194,3(21위), 1195,33(22위), 1195,3(23위), 1196,15(21위), 1197,28(25위), 1198,39(24위), 1201,24(21위), 1204,30(22위), 1206,27(25위), 1208,27(25위), 1208,30(23위), 1209,35(24위), 1209,39(21위), 1210,27(23위), 1211,27(22위), 1212,41(21위), 1216,15(24위), 1218,45(22위), 1223,20(22위), 1224,18(24위)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26-30위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29개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9.67%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1179,3(26위), 1180,6(28위), 1181,8(30위), 1184,23(30위), 1184,25(29위), 1185,6(26위), 1189,29(30위), 1190,9(26위), 1191,12(29위), 1192,16(29위), 1192,40(28위), 1195,36(26위), 1196,12(26위), 1198,33(26위), 1199,16(26위), 1199,30(27위), 1203,39(29위), 1208,6(27위), 1208,42(28위), 1211,23(29위), 1213,36(30위), 1213,5(27위), 1214,27(27위), 1219,15(26위), 1223,18(28위), 1223,39(26위), 1224,45(26위), 1225,9(27위), 1225,25(30위)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31-35위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26개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8.67%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1176,7(35위), 1177,3(33위), 1180,40(34위), 1184,14(31위), 1185,17(35위), 1186,28(33위), 1187,13(35위), 1188,22(35위), 1189,37(32위), 1190,19(34위), 1192,23(35위), 1193,16(32위), 1193,19(31위), 1197,1(33위), 1200,1(33위), 1202,33(35위), 1202,5(33위), 1203,35(31위), 1205,16(32위), 1205,1(33위), 1205,4(31위), 1216,23(33위), 1218,3(32위), 1218,31(31위), 1219,45(32위), 1223,32(34위)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36-40위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32개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  <a:latin typeface="Apple SD Gothic Neo"/>
                        </a:rPr>
                        <a:t>10.67%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1176,35(38위), 1178,5(40위), 1178,43(39위), 1179,16(40위), 1179,44(39위), 1181,41(38위), 1184,16(37위), 1184,37(40위), 1186,16(36위), 1186,8(39위), 1187,37(39위), 1187,29(36위), 1189,19(39위), 1194,37(39위), 1199,24(36위), 1200,32(37위), 1204,16(37위), 1204,31(39위), 1205,31(37위), 1206,1(36위), 1208,38(40위), 1209,17(37위), 1210,17(36위), 1211,35(37위), 1211,38(38위), 1211,26(39위), 1217,10(36위), 1217,31(38위), 1220,2(39위), 1220,28(36위), 1222,22(40위), 1225,41(39위)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41-45위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4E"/>
                          </a:solidFill>
                          <a:latin typeface="Apple SD Gothic Neo"/>
                        </a:rPr>
                        <a:t>20개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5CB8"/>
                          </a:solidFill>
                          <a:latin typeface="Apple SD Gothic Neo"/>
                        </a:rPr>
                        <a:t>6.67%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1176,11(44위), 1177,7(42위), 1178,11(44위), 1184,31(42위), 1185,28(45위), 1186,13(41위), 1188,4(41위), 1190,23(44위), 1191,4(44위), 1196,40(43위), 1201,7(45위), 1210,1(43위), 1210,38(42위), 1213,38(43위), 1215,44(45위), 1216,10(44위), 1217,8(44위), 1217,15(45위), 1221,28(45위), 1222,32(41위)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1226회차 당첨 번호 순위 그룹 확률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120640" cy="23774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120640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Apple SD Gothic Neo"/>
              </a:rPr>
              <a:t>▲ 필출 확률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4E"/>
                </a:solidFill>
                <a:latin typeface="Apple SD Gothic Neo"/>
              </a:rPr>
              <a:t>'1-5위' 그룹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최근 50주 당첨 확률 15.00%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→ 1226회차 약 0.9개(1~3개) 포함 예상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120640" cy="23774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120640" cy="76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E5CB8"/>
                </a:solidFill>
                <a:latin typeface="Apple SD Gothic Neo"/>
              </a:rPr>
              <a:t>▼ 제외 확률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4E"/>
                </a:solidFill>
                <a:latin typeface="Apple SD Gothic Neo"/>
              </a:rPr>
              <a:t>'41-45위' 그룹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5468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최근 50주 당첨 확률 6.67%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→ 후순위로 고려 권장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Apple SD Gothic Neo"/>
              </a:rPr>
              <a:t>해석: 분포 산정 창을 50주(총 300개 표본)로 확대하고 라이브 추천과 동일한 가중 점수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Apple SD Gothic Neo"/>
              </a:rPr>
              <a:t>기준으로 일관화한 결과, 상위권일수록 적중률이 높은 정상적인 단조 분포가 나타납니다.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Apple SD Gothic Neo"/>
              </a:rPr>
              <a:t>게임 구성은 상위권(1-25위) 중심으로 하는 전략이 통계적으로 유효합니다.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1226회차 추천 번호 전체 순위 (1~23위)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97280"/>
          <a:ext cx="11548872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1143000"/>
                <a:gridCol w="8668512"/>
              </a:tblGrid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점수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기여한 패턴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👑1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12번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장기미출현, 3의배수,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15번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3의배수, 5의배수,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3위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3의배수, 출현주기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24번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3의배수,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31번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6위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5의배수,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7위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29번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8위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출현주기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9위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5번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5의배수,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35번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5의배수,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11위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23번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12위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14번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13위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34번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14위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38번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15위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40번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5의배수, 출현주기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16위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26번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17위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7번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18위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45번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3의배수, 5의배수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19위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37번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장기미출현, 출현주기,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20위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21번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21위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18번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22위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30번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3의배수, 5의배수,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23위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39번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693408"/>
            <a:ext cx="11521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Apple SD Gothic Neo"/>
              </a:rPr>
              <a:t>※ 상위 25위(진한 번호)가 최종 게임 생성 풀로 사용됩니다.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1226회차 추천 번호 전체 순위 (24~45위)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97280"/>
          <a:ext cx="11548872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1143000"/>
                <a:gridCol w="8668512"/>
              </a:tblGrid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순위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점수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기여한 패턴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24위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42번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25위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2번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미출현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26위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9번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27위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27번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28위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33번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29위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25번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5의배수,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30위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36번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31위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6번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3의배수,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32위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43번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미출현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33위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22번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34위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20번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5의배수,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35위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32번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36위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19번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37위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11번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38위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28번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39위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41번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40위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8번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끝수이월, 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41위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17번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42위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16번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합계균형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43위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13번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55555"/>
                          </a:solidFill>
                          <a:latin typeface="Apple SD Gothic Neo"/>
                        </a:rPr>
                        <a:t>합계균형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4251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44위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4번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425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4E"/>
                          </a:solidFill>
                          <a:latin typeface="Apple SD Gothic Neo"/>
                        </a:rPr>
                        <a:t>45위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55555"/>
                          </a:solidFill>
                          <a:latin typeface="Apple SD Gothic Neo"/>
                        </a:rPr>
                        <a:t>44번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  <a:latin typeface="Apple SD Gothic Neo"/>
                        </a:rPr>
                        <a:t>0.00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최종 추천 5게임 (자동 필터링)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68680" cy="676656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8686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1691640" y="1325880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532888" y="1325880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3374136" y="1325880"/>
            <a:ext cx="676656" cy="676656"/>
          </a:xfrm>
          <a:prstGeom prst="ellipse">
            <a:avLst/>
          </a:prstGeom>
          <a:solidFill>
            <a:srgbClr val="4F9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4215384" y="1325880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29</a:t>
            </a:r>
          </a:p>
        </p:txBody>
      </p:sp>
      <p:sp>
        <p:nvSpPr>
          <p:cNvPr id="11" name="Oval 10"/>
          <p:cNvSpPr/>
          <p:nvPr/>
        </p:nvSpPr>
        <p:spPr>
          <a:xfrm>
            <a:off x="5056632" y="1325880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34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1325880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8463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pple SD Gothic Neo"/>
              </a:rPr>
              <a:t>합:126 / 홀짝 4:2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58568"/>
            <a:ext cx="868680" cy="676656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8686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1691640" y="2258568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2532888" y="2258568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21</a:t>
            </a:r>
          </a:p>
        </p:txBody>
      </p:sp>
      <p:sp>
        <p:nvSpPr>
          <p:cNvPr id="18" name="Oval 17"/>
          <p:cNvSpPr/>
          <p:nvPr/>
        </p:nvSpPr>
        <p:spPr>
          <a:xfrm>
            <a:off x="3374136" y="2258568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31</a:t>
            </a:r>
          </a:p>
        </p:txBody>
      </p:sp>
      <p:sp>
        <p:nvSpPr>
          <p:cNvPr id="19" name="Oval 18"/>
          <p:cNvSpPr/>
          <p:nvPr/>
        </p:nvSpPr>
        <p:spPr>
          <a:xfrm>
            <a:off x="4215384" y="2258568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38</a:t>
            </a:r>
          </a:p>
        </p:txBody>
      </p:sp>
      <p:sp>
        <p:nvSpPr>
          <p:cNvPr id="20" name="Oval 19"/>
          <p:cNvSpPr/>
          <p:nvPr/>
        </p:nvSpPr>
        <p:spPr>
          <a:xfrm>
            <a:off x="5056632" y="2258568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40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2258568"/>
            <a:ext cx="676656" cy="676656"/>
          </a:xfrm>
          <a:prstGeom prst="ellipse">
            <a:avLst/>
          </a:prstGeom>
          <a:solidFill>
            <a:srgbClr val="6FB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58568"/>
            <a:ext cx="48463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pple SD Gothic Neo"/>
              </a:rPr>
              <a:t>합:177 / 홀짝 3:3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91256"/>
            <a:ext cx="868680" cy="676656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91256"/>
            <a:ext cx="8686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1691640" y="3191256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2532888" y="3191256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21</a:t>
            </a:r>
          </a:p>
        </p:txBody>
      </p:sp>
      <p:sp>
        <p:nvSpPr>
          <p:cNvPr id="27" name="Oval 26"/>
          <p:cNvSpPr/>
          <p:nvPr/>
        </p:nvSpPr>
        <p:spPr>
          <a:xfrm>
            <a:off x="3374136" y="3191256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24</a:t>
            </a:r>
          </a:p>
        </p:txBody>
      </p:sp>
      <p:sp>
        <p:nvSpPr>
          <p:cNvPr id="28" name="Oval 27"/>
          <p:cNvSpPr/>
          <p:nvPr/>
        </p:nvSpPr>
        <p:spPr>
          <a:xfrm>
            <a:off x="4215384" y="3191256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26</a:t>
            </a:r>
          </a:p>
        </p:txBody>
      </p:sp>
      <p:sp>
        <p:nvSpPr>
          <p:cNvPr id="29" name="Oval 28"/>
          <p:cNvSpPr/>
          <p:nvPr/>
        </p:nvSpPr>
        <p:spPr>
          <a:xfrm>
            <a:off x="5056632" y="3191256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29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3191256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91256"/>
            <a:ext cx="48463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pple SD Gothic Neo"/>
              </a:rPr>
              <a:t>합:138 / 홀짝 4:2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23944"/>
            <a:ext cx="868680" cy="676656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23944"/>
            <a:ext cx="8686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1691640" y="4123944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2532888" y="4123944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21</a:t>
            </a:r>
          </a:p>
        </p:txBody>
      </p:sp>
      <p:sp>
        <p:nvSpPr>
          <p:cNvPr id="36" name="Oval 35"/>
          <p:cNvSpPr/>
          <p:nvPr/>
        </p:nvSpPr>
        <p:spPr>
          <a:xfrm>
            <a:off x="3374136" y="4123944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23</a:t>
            </a:r>
          </a:p>
        </p:txBody>
      </p:sp>
      <p:sp>
        <p:nvSpPr>
          <p:cNvPr id="37" name="Oval 36"/>
          <p:cNvSpPr/>
          <p:nvPr/>
        </p:nvSpPr>
        <p:spPr>
          <a:xfrm>
            <a:off x="4215384" y="4123944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29</a:t>
            </a:r>
          </a:p>
        </p:txBody>
      </p:sp>
      <p:sp>
        <p:nvSpPr>
          <p:cNvPr id="38" name="Oval 37"/>
          <p:cNvSpPr/>
          <p:nvPr/>
        </p:nvSpPr>
        <p:spPr>
          <a:xfrm>
            <a:off x="5056632" y="4123944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40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4123944"/>
            <a:ext cx="676656" cy="676656"/>
          </a:xfrm>
          <a:prstGeom prst="ellipse">
            <a:avLst/>
          </a:prstGeom>
          <a:solidFill>
            <a:srgbClr val="6FB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123944"/>
            <a:ext cx="48463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pple SD Gothic Neo"/>
              </a:rPr>
              <a:t>합:160 / 홀짝 4:2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56632"/>
            <a:ext cx="868680" cy="676656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56632"/>
            <a:ext cx="8686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E</a:t>
            </a:r>
          </a:p>
        </p:txBody>
      </p:sp>
      <p:sp>
        <p:nvSpPr>
          <p:cNvPr id="43" name="Oval 42"/>
          <p:cNvSpPr/>
          <p:nvPr/>
        </p:nvSpPr>
        <p:spPr>
          <a:xfrm>
            <a:off x="1691640" y="5056632"/>
            <a:ext cx="676656" cy="676656"/>
          </a:xfrm>
          <a:prstGeom prst="ellipse">
            <a:avLst/>
          </a:prstGeom>
          <a:solidFill>
            <a:srgbClr val="F6C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44" name="Oval 43"/>
          <p:cNvSpPr/>
          <p:nvPr/>
        </p:nvSpPr>
        <p:spPr>
          <a:xfrm>
            <a:off x="2532888" y="5056632"/>
            <a:ext cx="676656" cy="676656"/>
          </a:xfrm>
          <a:prstGeom prst="ellipse">
            <a:avLst/>
          </a:prstGeom>
          <a:solidFill>
            <a:srgbClr val="4F9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12</a:t>
            </a:r>
          </a:p>
        </p:txBody>
      </p:sp>
      <p:sp>
        <p:nvSpPr>
          <p:cNvPr id="45" name="Oval 44"/>
          <p:cNvSpPr/>
          <p:nvPr/>
        </p:nvSpPr>
        <p:spPr>
          <a:xfrm>
            <a:off x="3374136" y="5056632"/>
            <a:ext cx="676656" cy="676656"/>
          </a:xfrm>
          <a:prstGeom prst="ellipse">
            <a:avLst/>
          </a:prstGeom>
          <a:solidFill>
            <a:srgbClr val="4F9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14</a:t>
            </a:r>
          </a:p>
        </p:txBody>
      </p:sp>
      <p:sp>
        <p:nvSpPr>
          <p:cNvPr id="46" name="Oval 45"/>
          <p:cNvSpPr/>
          <p:nvPr/>
        </p:nvSpPr>
        <p:spPr>
          <a:xfrm>
            <a:off x="4215384" y="5056632"/>
            <a:ext cx="676656" cy="676656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23</a:t>
            </a:r>
          </a:p>
        </p:txBody>
      </p:sp>
      <p:sp>
        <p:nvSpPr>
          <p:cNvPr id="47" name="Oval 46"/>
          <p:cNvSpPr/>
          <p:nvPr/>
        </p:nvSpPr>
        <p:spPr>
          <a:xfrm>
            <a:off x="5056632" y="5056632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39</a:t>
            </a:r>
          </a:p>
        </p:txBody>
      </p:sp>
      <p:sp>
        <p:nvSpPr>
          <p:cNvPr id="48" name="Oval 47"/>
          <p:cNvSpPr/>
          <p:nvPr/>
        </p:nvSpPr>
        <p:spPr>
          <a:xfrm>
            <a:off x="5897880" y="5056632"/>
            <a:ext cx="676656" cy="676656"/>
          </a:xfrm>
          <a:prstGeom prst="ellipse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056632"/>
            <a:ext cx="48463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Apple SD Gothic Neo"/>
              </a:rPr>
              <a:t>합:131 / 홀짝 3:3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Apple SD Gothic Neo"/>
              </a:rPr>
              <a:t>필터 조건: 합 100~180 · 홀수 2~4개 · 저수(≤22) 2~4개 · 끝수 4종↑ · 소수·3배수 각 1↑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본 분석은 과거 통계 패턴에 기반한 참고용 자료입니다.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로또는 무작위 추첨이며 당첨을 보장하지 않습니다. 건전한 구매 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