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9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88920"/>
            <a:ext cx="12191695" cy="381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Apple SD Gothic Neo"/>
              </a:rPr>
              <a:t>1226회차 로또 패턴 분석 리포트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718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D4A017"/>
                </a:solidFill>
                <a:latin typeface="Apple SD Gothic Neo"/>
              </a:rPr>
              <a:t>확률 기반 패턴 분석 추천 시스템 v7.3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C9D3EA"/>
                </a:solidFill>
                <a:latin typeface="Apple SD Gothic Neo"/>
              </a:rPr>
              <a:t>기준 회차: 1225회  |  22개 패턴 기법 앙상블  |  최근 15회차 백테스트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8C9"/>
                </a:solidFill>
                <a:latin typeface="Apple SD Gothic Neo"/>
              </a:rPr>
              <a:t>2026-05-29 생성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추천 방식 개선 효과 검증 (최근 15주 백테스트)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지표: 상위 추천 안에 실제 당첨 번호가 평균 몇 개 들어왔는가  ·  무작위 기대값 = 상위6 0.80개 / 상위10 1.33개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75895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방식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상위 6 적중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상위 10 적중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기존(무가중 합산)</a:t>
                      </a:r>
                    </a:p>
                  </a:txBody>
                  <a:tcPr anchor="ctr" marT="12700" marB="12700" marL="50800" marR="50800">
                    <a:solidFill>
                      <a:srgbClr val="F6DA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Apple SD Gothic Neo"/>
                        </a:rPr>
                        <a:t>0.60개</a:t>
                      </a:r>
                    </a:p>
                  </a:txBody>
                  <a:tcPr anchor="ctr" marT="12700" marB="12700" marL="50800" marR="50800">
                    <a:solidFill>
                      <a:srgbClr val="F6DA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1.33개</a:t>
                      </a:r>
                    </a:p>
                  </a:txBody>
                  <a:tcPr anchor="ctr" marT="12700" marB="12700" marL="50800" marR="50800">
                    <a:solidFill>
                      <a:srgbClr val="F6DAD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신규(in-sample 가중)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1.27개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1.93개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신규+순위그룹보정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1.27개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1.93개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신규(walk-forward)  ← 과적합 제거 핵심 지표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0.87개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1.73개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07492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• 기존(무가중 합산)은 상위6 적중이 무작위보다도 낮음 → 사실상 무의미한 랭킹</a:t>
            </a:r>
          </a:p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• 개선(정확도 가중 + 분석기별 정규화) 후 in-sample 1.27개까지 상승</a:t>
            </a:r>
          </a:p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• walk-forward(매주 과거 데이터로만 재학습)에서도 상위10 적중이 무작위 대비 +30%</a:t>
            </a:r>
          </a:p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  → 과적합을 빼도 기존보다 개선. 단, 실제 추첨은 무작위이므로 당첨을 보장하지 않음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최근 15회차 패턴별 예측 정확도 순위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43000"/>
          <a:ext cx="544068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103120"/>
                <a:gridCol w="1280160"/>
                <a:gridCol w="1234440"/>
              </a:tblGrid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순위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패턴 기법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정확도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적중/예측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1위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이월수(주기)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Apple SD Gothic Neo"/>
                        </a:rPr>
                        <a:t>25.00%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3/12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2위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장기미출현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Apple SD Gothic Neo"/>
                        </a:rPr>
                        <a:t>22.00%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11/50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3위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오프셋(주기)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Apple SD Gothic Neo"/>
                        </a:rPr>
                        <a:t>20.00%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5/25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4위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5의배수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Apple SD Gothic Neo"/>
                        </a:rPr>
                        <a:t>17.78%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24/135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궁합수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Apple SD Gothic Neo"/>
                        </a:rPr>
                        <a:t>16.59%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34/205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6위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출현주기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16.11%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48/298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7위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3의배수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15.11%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34/225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8위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끝수이월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13.90%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46/331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9위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미출현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13.84%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40/289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고저균형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13.78%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31/225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11위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누적빈도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13.33%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90/675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09360" y="1143000"/>
          <a:ext cx="544068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103120"/>
                <a:gridCol w="1280160"/>
                <a:gridCol w="1234440"/>
              </a:tblGrid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순위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패턴 기법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정확도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적중/예측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12위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13.33%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70/525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13위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끝수통계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13.33%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90/675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14위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AC패턴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13.33%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90/675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15위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번호대빈도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13.33%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90/675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16위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멸구간(주기)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11.89%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49/412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17위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최근강세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11.61%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39/336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18위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소수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11.43%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24/210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19위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홀짝균형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11.21%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25/223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20위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연번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10.43%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17/163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21위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이웃수(주기)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10.00%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3/30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22위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대각선(주기)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6.98%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3/43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추천 순위 그룹별 당첨 번호 분포 (최근 15주 · 총 90개)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1-5위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1389888"/>
            <a:ext cx="3657600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0" y="1325880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10.00%  (9개)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56232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6-10위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920240"/>
            <a:ext cx="4469587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8467" y="1856232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12.22%  (11개)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86584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11-15위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2450592"/>
            <a:ext cx="6097219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66099" y="2386584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16.67%  (15개)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916936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16-20위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7440" y="2980944"/>
            <a:ext cx="3657600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2916936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10.00%  (9개)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47288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21-25위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77440" y="3511296"/>
            <a:ext cx="2033625" cy="384048"/>
          </a:xfrm>
          <a:prstGeom prst="rect">
            <a:avLst/>
          </a:prstGeom>
          <a:solidFill>
            <a:srgbClr val="B0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02505" y="3447288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5.56%  (5개)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977640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26-30위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40" y="4041648"/>
            <a:ext cx="2845612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14492" y="3977640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7.78%  (7개)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07992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31-35위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0" y="4572000"/>
            <a:ext cx="2845612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14492" y="4507992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7.78%  (7개)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038344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36-40위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77440" y="5102352"/>
            <a:ext cx="3657600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0" y="5038344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10.00%  (9개)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568696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41-45위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77440" y="5632704"/>
            <a:ext cx="7315200" cy="384048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0" y="5568696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20.00%  (18개)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172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92B"/>
                </a:solidFill>
                <a:latin typeface="Apple SD Gothic Neo"/>
              </a:rPr>
              <a:t>▶ '41-45위' 그룹이 20.00%로 가장 높음 (역설적 강세) · '21-25위' 그룹이 5.56%로 최저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순위 그룹별 회차 당첨 내역 (최근 15주)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97280"/>
          <a:ext cx="11640312" cy="557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731520"/>
                <a:gridCol w="914400"/>
                <a:gridCol w="8759952"/>
              </a:tblGrid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순위 그룹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당첨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비율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회차별 당첨 번호 (회차,번호(예측순위))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1-5위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9개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10.00%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1211,38(4위), 1211,27(3위), 1213,25(1위), 1213,27(4위), 1216,14(3위), 1219,15(1위), 1221,13(2위), 1222,17(1위), 1223,32(2위)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6-10위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11개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12.22%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1213,11(8위), 1214,27(7위), 1215,19(9위), 1215,15(7위), 1216,3(8위), 1218,31(7위), 1219,2(10위), 1221,18(8위), 1224,18(10위), 1224,9(7위), 1225,19(8위)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11-15위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15개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16.67%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1212,5(11위), 1212,8(15위), 1213,5(14위), 1213,38(13위), 1214,10(14위), 1216,15(12위), 1218,28(14위), 1219,1(11위), 1219,28(15위), 1219,45(14위), 1220,2(11위), 1220,25(14위), 1220,28(12위), 1222,41(15위), 1225,8(13위)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16-20위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9개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10.00%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1215,13(20위), 1215,45(17위), 1216,24(16위), 1217,10(16위), 1217,31(20위), 1218,45(18위), 1220,22(16위), 1223,33(19위), 1225,41(18위)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21-25위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5개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E5CB8"/>
                          </a:solidFill>
                          <a:latin typeface="Apple SD Gothic Neo"/>
                        </a:rPr>
                        <a:t>5.56%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1212,25(21위), 1214,15(22위), 1217,20(21위), 1220,34(23위), 1224,44(24위)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26-30위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7개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7.78%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1211,35(30위), 1221,30(30위), 1222,11(28위), 1223,16(27위), 1223,18(26위), 1224,45(28위), 1225,25(28위)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31-35위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7개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7.78%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1212,31(31위), 1214,33(32위), 1217,29(32위), 1218,32(31위), 1221,36(31위), 1224,21(33위), 1225,9(33위)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36-40위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9개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10.00%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1211,40(36위), 1211,26(39위), 1212,41(39위), 1214,19(40위), 1216,23(36위), 1218,3(39위), 1218,42(37위), 1219,39(39위), 1222,32(38위)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41-45위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18개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Apple SD Gothic Neo"/>
                        </a:rPr>
                        <a:t>20.00%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1211,23(44위), 1212,44(43위), 1213,36(43위), 1214,30(41위), 1215,21(41위), 1215,44(44위), 1216,10(42위), 1217,8(43위), 1217,15(45위), 1220,43(45위), 1221,6(42위), 1221,28(45위), 1222,4(44위), 1222,22(41위), 1223,20(42위), 1223,39(43위), 1224,27(44위), 1225,42(41위)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1226회차 당첨 번호 순위 그룹 확률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5120640" cy="2377440"/>
          </a:xfrm>
          <a:prstGeom prst="rect">
            <a:avLst/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5120640" cy="762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  <a:latin typeface="Apple SD Gothic Neo"/>
              </a:rPr>
              <a:t>▲ 필출 확률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F294E"/>
                </a:solidFill>
                <a:latin typeface="Apple SD Gothic Neo"/>
              </a:rPr>
              <a:t>'41-45위' 그룹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최근 15주 당첨 확률 20.00%</a:t>
            </a:r>
          </a:p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→ 1226회차 약 1.2개(1~3개) 포함 예상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554480"/>
            <a:ext cx="5120640" cy="2377440"/>
          </a:xfrm>
          <a:prstGeom prst="rect">
            <a:avLst/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554480"/>
            <a:ext cx="5120640" cy="76200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82880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2E5CB8"/>
                </a:solidFill>
                <a:latin typeface="Apple SD Gothic Neo"/>
              </a:rPr>
              <a:t>▼ 제외 확률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51460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F294E"/>
                </a:solidFill>
                <a:latin typeface="Apple SD Gothic Neo"/>
              </a:rPr>
              <a:t>'21-25위' 그룹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154680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최근 15주 당첨 확률 5.56%</a:t>
            </a:r>
          </a:p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→ 후순위로 고려 권장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48056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Apple SD Gothic Neo"/>
              </a:rPr>
              <a:t>해석: 앙상블 추천 상위권만이 아니라 최하위권(41-45위) 번호도 통계적으로 무시할 수</a:t>
            </a:r>
          </a:p>
          <a:p>
            <a:pPr algn="l"/>
            <a:r>
              <a:rPr sz="1500" b="0">
                <a:solidFill>
                  <a:srgbClr val="555555"/>
                </a:solidFill>
                <a:latin typeface="Apple SD Gothic Neo"/>
              </a:rPr>
              <a:t>없는 적중률을 보입니다. 게임 구성 시 상위권 중심으로 하되 일부 하위권 번호를</a:t>
            </a:r>
          </a:p>
          <a:p>
            <a:pPr algn="l"/>
            <a:r>
              <a:rPr sz="1500" b="0">
                <a:solidFill>
                  <a:srgbClr val="555555"/>
                </a:solidFill>
                <a:latin typeface="Apple SD Gothic Neo"/>
              </a:rPr>
              <a:t>분산 배치하는 전략이 유효할 수 있습니다.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1226회차 추천 번호 전체 순위 (1~23위)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097280"/>
          <a:ext cx="11548872" cy="557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868680"/>
                <a:gridCol w="1143000"/>
                <a:gridCol w="8668512"/>
              </a:tblGrid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순위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번호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점수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기여한 패턴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4E"/>
                          </a:solidFill>
                          <a:latin typeface="Apple SD Gothic Neo"/>
                        </a:rPr>
                        <a:t>👑1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12번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0.06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장기미출현, 3의배수,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4E"/>
                          </a:solidFill>
                          <a:latin typeface="Apple SD Gothic Neo"/>
                        </a:rPr>
                        <a:t>2위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15번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0.05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3의배수, 5의배수,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4E"/>
                          </a:solidFill>
                          <a:latin typeface="Apple SD Gothic Neo"/>
                        </a:rPr>
                        <a:t>3위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3의배수, 출현주기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24번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3의배수,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31번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6위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10번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5의배수,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7위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29번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8위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출현주기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9위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5번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0.03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5의배수,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35번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0.03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5의배수,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11위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23번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0.03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12위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14번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0.03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13위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34번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0.03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14위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38번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0.03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40번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0.03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5의배수, 출현주기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16위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26번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0.02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17위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7번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0.02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18위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45번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0.02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3의배수, 5의배수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19위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37번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0.02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장기미출현,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21번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0.02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3의배수,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21위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18번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0.02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3의배수,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22위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30번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3의배수, 5의배수,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23위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39번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3의배수,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6693408"/>
            <a:ext cx="11521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Apple SD Gothic Neo"/>
              </a:rPr>
              <a:t>※ 상위 25위(진한 번호)가 최종 게임 생성 풀로 사용됩니다.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1226회차 추천 번호 전체 순위 (24~45위)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097280"/>
          <a:ext cx="11548872" cy="557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868680"/>
                <a:gridCol w="1143000"/>
                <a:gridCol w="8668512"/>
              </a:tblGrid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순위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번호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점수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기여한 패턴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24위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42번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3의배수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25위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26위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9번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3의배수,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27위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27번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3의배수,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28위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33번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3의배수,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29위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25번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5의배수,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30위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36번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3의배수,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31위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6번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3의배수,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32위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43번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33위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22번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34위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20번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5의배수,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35위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32번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36위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19번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37위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11번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38위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28번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39위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41번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0.00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40위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8번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0.00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41위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17번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0.00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42위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16번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0.00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43위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0.00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44위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4번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0.00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45위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44번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0.00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최종 추천 5게임 (자동 필터링)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868680" cy="676656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86868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A</a:t>
            </a:r>
          </a:p>
        </p:txBody>
      </p:sp>
      <p:sp>
        <p:nvSpPr>
          <p:cNvPr id="7" name="Oval 6"/>
          <p:cNvSpPr/>
          <p:nvPr/>
        </p:nvSpPr>
        <p:spPr>
          <a:xfrm>
            <a:off x="1691640" y="1325880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2532888" y="1325880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10</a:t>
            </a:r>
          </a:p>
        </p:txBody>
      </p:sp>
      <p:sp>
        <p:nvSpPr>
          <p:cNvPr id="9" name="Oval 8"/>
          <p:cNvSpPr/>
          <p:nvPr/>
        </p:nvSpPr>
        <p:spPr>
          <a:xfrm>
            <a:off x="3374136" y="1325880"/>
            <a:ext cx="676656" cy="676656"/>
          </a:xfrm>
          <a:prstGeom prst="ellipse">
            <a:avLst/>
          </a:prstGeom>
          <a:solidFill>
            <a:srgbClr val="4F9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14</a:t>
            </a:r>
          </a:p>
        </p:txBody>
      </p:sp>
      <p:sp>
        <p:nvSpPr>
          <p:cNvPr id="10" name="Oval 9"/>
          <p:cNvSpPr/>
          <p:nvPr/>
        </p:nvSpPr>
        <p:spPr>
          <a:xfrm>
            <a:off x="4215384" y="1325880"/>
            <a:ext cx="676656" cy="676656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23</a:t>
            </a:r>
          </a:p>
        </p:txBody>
      </p:sp>
      <p:sp>
        <p:nvSpPr>
          <p:cNvPr id="11" name="Oval 10"/>
          <p:cNvSpPr/>
          <p:nvPr/>
        </p:nvSpPr>
        <p:spPr>
          <a:xfrm>
            <a:off x="5056632" y="1325880"/>
            <a:ext cx="676656" cy="676656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30</a:t>
            </a:r>
          </a:p>
        </p:txBody>
      </p:sp>
      <p:sp>
        <p:nvSpPr>
          <p:cNvPr id="12" name="Oval 11"/>
          <p:cNvSpPr/>
          <p:nvPr/>
        </p:nvSpPr>
        <p:spPr>
          <a:xfrm>
            <a:off x="5897880" y="1325880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1325880"/>
            <a:ext cx="484632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Apple SD Gothic Neo"/>
              </a:rPr>
              <a:t>합:117 / 홀짝 3:3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258568"/>
            <a:ext cx="868680" cy="676656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258568"/>
            <a:ext cx="86868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B</a:t>
            </a:r>
          </a:p>
        </p:txBody>
      </p:sp>
      <p:sp>
        <p:nvSpPr>
          <p:cNvPr id="16" name="Oval 15"/>
          <p:cNvSpPr/>
          <p:nvPr/>
        </p:nvSpPr>
        <p:spPr>
          <a:xfrm>
            <a:off x="1691640" y="2258568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2532888" y="2258568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5</a:t>
            </a:r>
          </a:p>
        </p:txBody>
      </p:sp>
      <p:sp>
        <p:nvSpPr>
          <p:cNvPr id="18" name="Oval 17"/>
          <p:cNvSpPr/>
          <p:nvPr/>
        </p:nvSpPr>
        <p:spPr>
          <a:xfrm>
            <a:off x="3374136" y="2258568"/>
            <a:ext cx="676656" cy="676656"/>
          </a:xfrm>
          <a:prstGeom prst="ellipse">
            <a:avLst/>
          </a:prstGeom>
          <a:solidFill>
            <a:srgbClr val="4F9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14</a:t>
            </a:r>
          </a:p>
        </p:txBody>
      </p:sp>
      <p:sp>
        <p:nvSpPr>
          <p:cNvPr id="19" name="Oval 18"/>
          <p:cNvSpPr/>
          <p:nvPr/>
        </p:nvSpPr>
        <p:spPr>
          <a:xfrm>
            <a:off x="4215384" y="2258568"/>
            <a:ext cx="676656" cy="676656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21</a:t>
            </a:r>
          </a:p>
        </p:txBody>
      </p:sp>
      <p:sp>
        <p:nvSpPr>
          <p:cNvPr id="20" name="Oval 19"/>
          <p:cNvSpPr/>
          <p:nvPr/>
        </p:nvSpPr>
        <p:spPr>
          <a:xfrm>
            <a:off x="5056632" y="2258568"/>
            <a:ext cx="676656" cy="676656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23</a:t>
            </a:r>
          </a:p>
        </p:txBody>
      </p:sp>
      <p:sp>
        <p:nvSpPr>
          <p:cNvPr id="21" name="Oval 20"/>
          <p:cNvSpPr/>
          <p:nvPr/>
        </p:nvSpPr>
        <p:spPr>
          <a:xfrm>
            <a:off x="5897880" y="2258568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2258568"/>
            <a:ext cx="484632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Apple SD Gothic Neo"/>
              </a:rPr>
              <a:t>합:100 / 홀짝 4:2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191256"/>
            <a:ext cx="868680" cy="676656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191256"/>
            <a:ext cx="86868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C</a:t>
            </a:r>
          </a:p>
        </p:txBody>
      </p:sp>
      <p:sp>
        <p:nvSpPr>
          <p:cNvPr id="25" name="Oval 24"/>
          <p:cNvSpPr/>
          <p:nvPr/>
        </p:nvSpPr>
        <p:spPr>
          <a:xfrm>
            <a:off x="1691640" y="3191256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</a:t>
            </a:r>
          </a:p>
        </p:txBody>
      </p:sp>
      <p:sp>
        <p:nvSpPr>
          <p:cNvPr id="26" name="Oval 25"/>
          <p:cNvSpPr/>
          <p:nvPr/>
        </p:nvSpPr>
        <p:spPr>
          <a:xfrm>
            <a:off x="2532888" y="3191256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2</a:t>
            </a:r>
          </a:p>
        </p:txBody>
      </p:sp>
      <p:sp>
        <p:nvSpPr>
          <p:cNvPr id="27" name="Oval 26"/>
          <p:cNvSpPr/>
          <p:nvPr/>
        </p:nvSpPr>
        <p:spPr>
          <a:xfrm>
            <a:off x="3374136" y="3191256"/>
            <a:ext cx="676656" cy="676656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29</a:t>
            </a:r>
          </a:p>
        </p:txBody>
      </p:sp>
      <p:sp>
        <p:nvSpPr>
          <p:cNvPr id="28" name="Oval 27"/>
          <p:cNvSpPr/>
          <p:nvPr/>
        </p:nvSpPr>
        <p:spPr>
          <a:xfrm>
            <a:off x="4215384" y="3191256"/>
            <a:ext cx="676656" cy="676656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30</a:t>
            </a:r>
          </a:p>
        </p:txBody>
      </p:sp>
      <p:sp>
        <p:nvSpPr>
          <p:cNvPr id="29" name="Oval 28"/>
          <p:cNvSpPr/>
          <p:nvPr/>
        </p:nvSpPr>
        <p:spPr>
          <a:xfrm>
            <a:off x="5056632" y="3191256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35</a:t>
            </a:r>
          </a:p>
        </p:txBody>
      </p:sp>
      <p:sp>
        <p:nvSpPr>
          <p:cNvPr id="30" name="Oval 29"/>
          <p:cNvSpPr/>
          <p:nvPr/>
        </p:nvSpPr>
        <p:spPr>
          <a:xfrm>
            <a:off x="5897880" y="3191256"/>
            <a:ext cx="676656" cy="676656"/>
          </a:xfrm>
          <a:prstGeom prst="ellipse">
            <a:avLst/>
          </a:prstGeom>
          <a:solidFill>
            <a:srgbClr val="6F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42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191256"/>
            <a:ext cx="484632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Apple SD Gothic Neo"/>
              </a:rPr>
              <a:t>합:139 / 홀짝 3:3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123944"/>
            <a:ext cx="868680" cy="676656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123944"/>
            <a:ext cx="86868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D</a:t>
            </a:r>
          </a:p>
        </p:txBody>
      </p:sp>
      <p:sp>
        <p:nvSpPr>
          <p:cNvPr id="34" name="Oval 33"/>
          <p:cNvSpPr/>
          <p:nvPr/>
        </p:nvSpPr>
        <p:spPr>
          <a:xfrm>
            <a:off x="1691640" y="4123944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7</a:t>
            </a:r>
          </a:p>
        </p:txBody>
      </p:sp>
      <p:sp>
        <p:nvSpPr>
          <p:cNvPr id="35" name="Oval 34"/>
          <p:cNvSpPr/>
          <p:nvPr/>
        </p:nvSpPr>
        <p:spPr>
          <a:xfrm>
            <a:off x="2532888" y="4123944"/>
            <a:ext cx="676656" cy="676656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21</a:t>
            </a:r>
          </a:p>
        </p:txBody>
      </p:sp>
      <p:sp>
        <p:nvSpPr>
          <p:cNvPr id="36" name="Oval 35"/>
          <p:cNvSpPr/>
          <p:nvPr/>
        </p:nvSpPr>
        <p:spPr>
          <a:xfrm>
            <a:off x="3374136" y="4123944"/>
            <a:ext cx="676656" cy="676656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26</a:t>
            </a:r>
          </a:p>
        </p:txBody>
      </p:sp>
      <p:sp>
        <p:nvSpPr>
          <p:cNvPr id="37" name="Oval 36"/>
          <p:cNvSpPr/>
          <p:nvPr/>
        </p:nvSpPr>
        <p:spPr>
          <a:xfrm>
            <a:off x="4215384" y="4123944"/>
            <a:ext cx="676656" cy="676656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29</a:t>
            </a:r>
          </a:p>
        </p:txBody>
      </p:sp>
      <p:sp>
        <p:nvSpPr>
          <p:cNvPr id="38" name="Oval 37"/>
          <p:cNvSpPr/>
          <p:nvPr/>
        </p:nvSpPr>
        <p:spPr>
          <a:xfrm>
            <a:off x="5056632" y="4123944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34</a:t>
            </a:r>
          </a:p>
        </p:txBody>
      </p:sp>
      <p:sp>
        <p:nvSpPr>
          <p:cNvPr id="39" name="Oval 38"/>
          <p:cNvSpPr/>
          <p:nvPr/>
        </p:nvSpPr>
        <p:spPr>
          <a:xfrm>
            <a:off x="5897880" y="4123944"/>
            <a:ext cx="676656" cy="676656"/>
          </a:xfrm>
          <a:prstGeom prst="ellipse">
            <a:avLst/>
          </a:prstGeom>
          <a:solidFill>
            <a:srgbClr val="6F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42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4123944"/>
            <a:ext cx="484632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Apple SD Gothic Neo"/>
              </a:rPr>
              <a:t>합:159 / 홀짝 3:3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056632"/>
            <a:ext cx="868680" cy="676656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056632"/>
            <a:ext cx="86868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E</a:t>
            </a:r>
          </a:p>
        </p:txBody>
      </p:sp>
      <p:sp>
        <p:nvSpPr>
          <p:cNvPr id="43" name="Oval 42"/>
          <p:cNvSpPr/>
          <p:nvPr/>
        </p:nvSpPr>
        <p:spPr>
          <a:xfrm>
            <a:off x="1691640" y="5056632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</a:t>
            </a:r>
          </a:p>
        </p:txBody>
      </p:sp>
      <p:sp>
        <p:nvSpPr>
          <p:cNvPr id="44" name="Oval 43"/>
          <p:cNvSpPr/>
          <p:nvPr/>
        </p:nvSpPr>
        <p:spPr>
          <a:xfrm>
            <a:off x="2532888" y="5056632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10</a:t>
            </a:r>
          </a:p>
        </p:txBody>
      </p:sp>
      <p:sp>
        <p:nvSpPr>
          <p:cNvPr id="45" name="Oval 44"/>
          <p:cNvSpPr/>
          <p:nvPr/>
        </p:nvSpPr>
        <p:spPr>
          <a:xfrm>
            <a:off x="3374136" y="5056632"/>
            <a:ext cx="676656" cy="676656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21</a:t>
            </a:r>
          </a:p>
        </p:txBody>
      </p:sp>
      <p:sp>
        <p:nvSpPr>
          <p:cNvPr id="46" name="Oval 45"/>
          <p:cNvSpPr/>
          <p:nvPr/>
        </p:nvSpPr>
        <p:spPr>
          <a:xfrm>
            <a:off x="4215384" y="5056632"/>
            <a:ext cx="676656" cy="676656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29</a:t>
            </a:r>
          </a:p>
        </p:txBody>
      </p:sp>
      <p:sp>
        <p:nvSpPr>
          <p:cNvPr id="47" name="Oval 46"/>
          <p:cNvSpPr/>
          <p:nvPr/>
        </p:nvSpPr>
        <p:spPr>
          <a:xfrm>
            <a:off x="5056632" y="5056632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34</a:t>
            </a:r>
          </a:p>
        </p:txBody>
      </p:sp>
      <p:sp>
        <p:nvSpPr>
          <p:cNvPr id="48" name="Oval 47"/>
          <p:cNvSpPr/>
          <p:nvPr/>
        </p:nvSpPr>
        <p:spPr>
          <a:xfrm>
            <a:off x="5897880" y="5056632"/>
            <a:ext cx="676656" cy="676656"/>
          </a:xfrm>
          <a:prstGeom prst="ellipse">
            <a:avLst/>
          </a:prstGeom>
          <a:solidFill>
            <a:srgbClr val="6F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42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5056632"/>
            <a:ext cx="484632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Apple SD Gothic Neo"/>
              </a:rPr>
              <a:t>합:139 / 홀짝 3:3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6172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Apple SD Gothic Neo"/>
              </a:rPr>
              <a:t>필터 조건: 합 100~180 · 홀수 2~4개 · 저수(≤22) 2~4개 · 끝수 4종↑ · 소수·3배수 각 1↑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9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56032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pple SD Gothic Neo"/>
              </a:rPr>
              <a:t>본 분석은 과거 통계 패턴에 기반한 참고용 자료입니다.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566160"/>
            <a:ext cx="9418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C9D3EA"/>
                </a:solidFill>
                <a:latin typeface="Apple SD Gothic Neo"/>
              </a:rPr>
              <a:t>로또는 무작위 추첨이며 당첨을 보장하지 않습니다. 건전한 구매 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