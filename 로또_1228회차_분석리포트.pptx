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1228회차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1227회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+2.28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23.91%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11/46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20.29%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14/69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19/114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15.36%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45/293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15.61%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32/205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46/333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69/525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26/203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12.92%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54/418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43/342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9.09%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4/44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10.95%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10.37%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17/164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13.00%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9.58%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836000" y="130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3의배수,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3.62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2.76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3의배수, 커스텀패턴,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(2/3)</a:t>
            </a:r>
          </a:p>
        </p:txBody>
      </p:sp>
      <p:graphicFrame>
        <p:nvGraphicFramePr>
          <p:cNvPr id="3" name="rk1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커스텀패턴,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(3/3)</a:t>
            </a:r>
          </a:p>
        </p:txBody>
      </p:sp>
      <p:graphicFrame>
        <p:nvGraphicFramePr>
          <p:cNvPr id="3" name="rk2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1228회차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01 11 14 24 36 42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128 · 홀2:짝4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01 07 11 14 33 36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102 · 홀4:짝2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01 07 14 18 24 36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100 · 홀2:짝4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01 03 07 11 36 42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100 · 홀4:짝2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03 07 11 15 24 42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102 · 홀4:짝2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4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적중 = 그 순위 추천번호가 당첨이었던 횟수  ·  간격(차이수) 형식: 차이(전회차→후회차)  ·  다음간격 = 1228회 − 마지막 재출현회차  ·  ◎ = 다음간격이 과거 5회 이상 재출현(반복) / − = 아님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70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1">
                <a:solidFill>
                  <a:srgbClr val="C00000"/>
                </a:solidFill>
              </a:rPr>
              <a:t>◎ 1228회 재출현 유력 번호 (5개, 다음간격 과거 5회↑ 반복): 42, 11, 14, 1, 7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486000" y="174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9(1039→1048)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12(1048→1060)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5(1060→1065)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7(1065→1072)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22(1074→1096)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4(1098→1102)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7(1102→1109)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4(1109→1113)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6(1125→1131)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4(1131→1135)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2(1137→1139)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7(1166→1173)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28(1173→1201)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10(1207→1217)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7(1217→1224)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9(1047→1056)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5(1056→1061)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6(1076→1082)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6(1082→1088)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13(1088→1101)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20(1101→1121)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7(1127→1134)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44(1134→1178)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10(1178→1188)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4(1188→1192)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7(1192→1199)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8(1199→1207)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8(1207→1215)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9(1215→1224)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1(1034→1035)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2(1035→1037)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1(1037→1038)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1(1038→1039)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6(1039→1045)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14(1045→1059)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23(1060→1083)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5(1083→1088)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4(1088→1092)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32(1098→1130)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3(1130→1133)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18(1133→1151)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9(1151→1160)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5(1160→1165)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2(1181→1183)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5(1196→1201)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15(1201→1216)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5(1216→1221)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11(1041→1052)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30(1052→1082)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3(1082→1085)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7(1085→1092)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59(1092→1151)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5(1163→1168)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2(1180→1182)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22(1196→1218)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3(1218→1221)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4(1039→1043)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3(1043→1046)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23(1046→1069)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8(1071→1079)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1(1079→1080)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10(1080→1090)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1(1090→1091)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3(1091→1094)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3(1109→1112)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10(1112→1122)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13(1126→1139)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1(1139→1140)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4(1140→1144)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5(1145→1150)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9(1150→1159)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1(1164→1165)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6(1168→1174)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5(1194→1199)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4(1199→1203)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7(1203→1210)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4(1210→1214)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3(1033→1036)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1(1036→1037)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3(1037→1040)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1(1040→1041)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10(1041→1051)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4(1051→1055)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9(1070→1079)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4(1079→1083)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3(1089→1092)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8(1107→1115)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1(1115→1116)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18(1116→1134)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14(1135→1149)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3(1149→1152)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10(1152→1162)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3(1162→1165)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17(1165→1182)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12(1182→1194)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7(1194→1201)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1(1201→1202)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7(1202→1209)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4(1209→1213)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6(1048→1054)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10(1054→1064)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18(1064→1082)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2(1082→1084)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2(1084→1086)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5(1094→1099)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5(1099→1104)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1(1117→1118)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16(1118→1134)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12(1135→1147)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10(1147→1157)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10(1157→1167)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8(1192→1200)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3(1203→1206)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12(1206→1218)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1(1222→1223)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1(1041→1042)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8(1042→1050)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1(1054→1055)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3(1061→1064)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3(1064→1067)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8(1067→1075)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6(1075→1081)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17(1084→1101)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1(1105→1106)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15(1117→1132)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1(1133→1134)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3(1134→1137)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4(1137→1141)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4(1162→1166)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3(1166→1169)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14(1169→1183)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21(1183→1204)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6(1204→1210)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1(1210→1211)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1(1226→1227)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3(1039→1042)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4(1042→1046)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7(1046→1053)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6(1060→1066)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1(1066→1067)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10(1067→1077)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7(1077→1084)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6(1084→1090)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1(1090→1091)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26(1091→1117)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6(1122→1128)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8(1128→1136)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10(1137→1147)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11(1147→1158)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35(1172→1207)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1(1207→1208)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17(1208→1225)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2(1033→1035)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16(1035→1051)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7(1051→1058)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3(1058→1061)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7(1101→1108)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2(1110→1112)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7(1112→1119)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4(1120→1124)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3(1128→1131)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10(1131→1141)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8(1141→1149)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2(1149→1151)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18(1159→1177)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3(1177→1180)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8(1180→1188)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2(1191→1193)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6(1193→1199)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8(1212→1220)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3(1041→1044)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1(1044→1045)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5(1045→1050)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18(1050→1068)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10(1068→1078)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12(1080→1092)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2(1101→1103)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1(1103→1104)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21(1104→1125)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5(1125→1130)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17(1130→1147)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15(1147→1162)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8(1162→1170)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3(1170→1173)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7(1173→1180)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18(1180→1198)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8(1201→1209)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5(1209→1214)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1(1214→1215)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4(1215→1219)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1(1219→1220)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1(1220→1221)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1(1037→1038)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11(1038→1049)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15(1049→1064)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9(1064→1073)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7(1073→1080)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5(1091→1096)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6(1097→1103)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34(1114→1148)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7(1148→1155)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3(1155→1158)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15(1158→1173)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3(1173→1176)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7(1176→1183)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6(1189→1195)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7(1198→1205)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10(1205→1215)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6(1041→1047)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7(1047→1054)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7(1056→1063)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10(1063→1073)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2(1073→1075)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11(1079→1090)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5(1090→1095)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10(1100→1110)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8(1111→1119)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3(1119→1122)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6(1122→1128)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13(1143→1156)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3(1156→1159)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1(1159→1160)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18(1174→1192)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13(1192→1205)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5(1205→1210)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6(1044→1050)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16(1071→1087)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1(1087→1088)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21(1088→1109)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10(1109→1119)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7(1119→1126)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1(1126→1127)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9(1127→1136)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6(1136→1142)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3(1147→1150)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1(1150→1151)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1(1151→1152)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17(1152→1169)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7(1181→1188)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2(1189→1191)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9(1191→1200)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8(1200→1208)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5(1208→1213)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6(1213→1219)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7(1038→1045)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1(1046→1047)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16(1048→1064)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6(1065→1071)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5(1078→1083)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3(1083→1086)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4(1086→1090)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4(1107→1111)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24(1112→1136)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12(1137→1149)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7(1149→1156)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2(1171→1173)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30(1173→1203)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5(1209→1214)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7(1214→1221)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(2/3)</a:t>
            </a:r>
          </a:p>
        </p:txBody>
      </p:sp>
      <p:graphicFrame>
        <p:nvGraphicFramePr>
          <p:cNvPr id="3" name="rh1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6(1033→1039)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5(1039→1044)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9(1044→1053)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3(1053→1056)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36(1056→1092)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5(1106→1111)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20(1111→1131)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9(1131→1140)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6(1172→1178)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5(1178→1183)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1(1183→1184)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5(1191→1196)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4(1197→1201)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1(1201→1202)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8(1202→1210)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2(1210→1212)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4(1212→1216)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11(1048→1059)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27(1059→1086)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21(1086→1107)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3(1107→1110)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4(1110→1114)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4(1116→1120)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1(1120→1121)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5(1121→1126)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10(1126→1136)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3(1145→1148)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18(1150→1168)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9(1168→1177)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13(1177→1190)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10(1190→1200)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11(1200→1211)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3(1211→1214)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7(1050→1057)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5(1058→1063)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8(1063→1071)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3(1071→1074)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2(1074→1076)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23(1076→1099)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22(1099→1121)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5(1145→1150)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3(1152→1155)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9(1170→1179)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3(1179→1182)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4(1194→1198)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1(1199→1200)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3(1200→1203)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13(1203→1216)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3(1216→1219)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3(1219→1222)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15(1035→1050)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8(1054→1062)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2(1064→1066)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7(1066→1073)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2(1080→1082)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16(1082→1098)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6(1115→1121)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16(1121→1137)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1(1137→1138)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1(1138→1139)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14(1139→1153)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7(1168→1175)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18(1175→1193)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2(1195→1197)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10(1198→1208)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7(1040→1047)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2(1047→1049)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2(1049→1051)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10(1051→1061)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2(1061→1063)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3(1078→1081)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2(1087→1089)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2(1089→1091)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27(1091→1118)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4(1125→1129)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1(1129→1130)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8(1131→1139)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9(1139→1148)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4(1148→1152)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8(1152→1160)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3(1160→1163)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17(1163→1180)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1(1180→1181)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9(1189→1198)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6(1209→1215)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8(1215→1223)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2(1223→1225)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2(1225→1227)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4(1034→1038)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7(1038→1045)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4(1045→1049)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13(1057→1070)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3(1077→1080)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6(1080→1086)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7(1096→1103)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5(1103→1108)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4(1108→1112)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12(1112→1124)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15(1127→1142)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2(1146→1148)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5(1150→1155)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4(1155→1159)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12(1159→1171)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22(1182→1204)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14(1042→1056)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6(1056→1062)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16(1062→1078)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7(1078→1085)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10(1085→1095)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5(1100→1105)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5(1105→1110)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2(1123→1125)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15(1125→1140)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2(1140→1142)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4(1152→1156)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21(1164→1185)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12(1195→1207)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7(1207→1214)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8(1214→1222)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9(1034→1043)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1(1043→1044)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5(1044→1049)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10(1049→1059)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3(1065→1068)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2(1068→1070)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8(1082→1090)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16(1093→1109)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34(1109→1143)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5(1144→1149)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5(1149→1154)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9(1154→1163)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6(1169→1175)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2(1190→1192)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3(1192→1195)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19(1195→1214)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9(1214→1223)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10(1033→1043)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5(1043→1048)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7(1048→1055)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2(1055→1057)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3(1057→1060)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1(1060→1061)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16(1067→1083)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9(1083→1092)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17(1093→1110)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7(1110→1117)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1(1122→1123)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5(1132→1137)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8(1140→1148)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1(1148→1149)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9(1149→1158)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8(1167→1175)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9(1176→1185)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8(1185→1193)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3(1196→1199)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9(1199→1208)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8(1208→1216)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7(1216→1223)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4(1038→1042)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9(1042→1051)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6(1051→1057)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10(1062→1072)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10(1072→1082)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8(1082→1090)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4(1111→1115)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2(1115→1117)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26(1122→1148)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22(1148→1170)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31(1175→1206)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18(1206→1224)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14(1053→1067)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29(1070→1099)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32(1099→1131)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30(1136→1166)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2(1175→1177)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5(1177→1182)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3(1182→1185)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2(1207→1209)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6(1213→1219)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2(1033→1035)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5(1035→1040)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13(1040→1053)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14(1060→1074)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3(1074→1077)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23(1077→1100)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5(1100→1105)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1(1105→1106)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2(1106→1108)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3(1108→1111)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7(1125→1132)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3(1132→1135)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3(1135→1138)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4(1138→1142)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8(1144→1152)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2(1152→1154)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1(1190→1191)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4(1203→1207)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9(1207→1216)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11(1216→1227)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1(1036→1037)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18(1037→1055)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5(1061→1066)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19(1066→1085)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18(1085→1103)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1(1114→1115)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2(1115→1117)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2(1117→1119)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1(1127→1128)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3(1143→1146)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4(1147→1151)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27(1170→1197)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2(1197→1199)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13(1199→1212)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13(1212→1225)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3(1034→1037)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3(1037→1040)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5(1040→1045)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10(1046→1056)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27(1056→1083)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11(1083→1094)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18(1096→1114)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19(1120→1139)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3(1139→1142)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19(1142→1161)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6(1161→1167)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38(1167→1205)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10(1205→1215)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3(1215→1218)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6(1035→1041)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2(1041→1043)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6(1043→1049)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6(1057→1063)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6(1063→1069)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2(1077→1079)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2(1079→1081)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5(1081→1086)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4(1089→1093)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26(1093→1119)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20(1120→1140)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6(1140→1146)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18(1146→1164)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16(1169→1185)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11(1187→1198)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4(1198→1202)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11(1202→1213)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(3/3)</a:t>
            </a:r>
          </a:p>
        </p:txBody>
      </p:sp>
      <p:graphicFrame>
        <p:nvGraphicFramePr>
          <p:cNvPr id="3" name="rh2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5(1033→1038)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37(1038→1075)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22(1075→1097)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7(1097→1104)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9(1104→1113)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11(1113→1124)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6(1124→1130)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2(1130→1132)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9(1134→1143)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10(1143→1153)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6(1164→1170)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14(1170→1184)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6(1184→1190)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22(1034→1056)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3(1056→1059)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12(1066→1078)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7(1078→1085)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1(1085→1086)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10(1086→1096)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3(1102→1105)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12(1123→1135)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19(1135→1154)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18(1154→1172)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12(1174→1186)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7(1187→1194)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2(1218→1220)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2(1220→1222)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1(1222→1223)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1(1224→1225)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10(1034→1044)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2(1044→1046)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1(1046→1047)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10(1048→1058)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11(1058→1069)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15(1069→1084)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10(1118→1128)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2(1138→1140)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1(1141→1142)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3(1144→1147)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6(1147→1153)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7(1159→1166)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6(1166→1172)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3(1174→1177)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2(1177→1179)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7(1179→1186)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4(1202→1206)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5(1206→1211)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4(1213→1217)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1(1217→1218)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1(1218→1219)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9(1043→1052)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1(1052→1053)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50(1068→1118)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2(1118→1120)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10(1123→1133)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23(1133→1156)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5(1189→1194)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11(1194→1205)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6(1205→1211)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14(1052→1066)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3(1069→1072)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1(1072→1073)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16(1073→1089)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2(1089→1091)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3(1098→1101)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5(1101→1106)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7(1109→1116)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2(1116→1118)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9(1125→1134)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4(1134→1138)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25(1138→1163)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6(1163→1169)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20(1169→1189)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6(1189→1195)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5(1195→1200)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4(1200→1204)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4(1204→1208)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4(1208→1212)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15(1212→1227)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22(1055→1077)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4(1077→1081)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19(1081→1100)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22(1100→1122)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2(1131→1133)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16(1145→1161)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14(1162→1176)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5(1176→1181)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2(1182→1184)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15(1190→1205)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7(1205→1212)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22(1036→1058)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3(1062→1065)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9(1066→1075)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1(1075→1076)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3(1076→1079)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15(1079→1094)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8(1094→1102)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10(1102→1112)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16(1113→1129)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3(1129→1132)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7(1138→1145)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1(1154→1155)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10(1155→1165)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6(1165→1171)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36(1186→1222)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1(1226→1227)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6(1036→1042)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17(1042→1059)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7(1060→1067)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7(1067→1074)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2(1074→1076)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7(1095→1102)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12(1102→1114)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9(1120→1129)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12(1129→1141)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5(1141→1146)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7(1146→1153)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22(1154→1176)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6(1178→1184)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5(1035→1040)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9(1040→1049)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12(1057→1069)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1(1087→1088)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7(1088→1095)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10(1116→1126)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4(1129→1133)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21(1133→1154)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2(1154→1156)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1(1156→1157)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6(1157→1163)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7(1163→1170)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23(1185→1208)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18(1208→1226)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13(1037→1050)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5(1050→1055)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14(1055→1069)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1(1069→1070)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5(1075→1080)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4(1080→1084)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13(1084→1097)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1(1097→1098)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7(1099→1106)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2(1109→1111)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29(1138→1167)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1(1173→1174)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3(1220→1223)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4(1223→1227)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3(1036→1039)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3(1039→1042)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9(1042→1051)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16(1051→1067)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7(1067→1074)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6(1102→1108)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5(1108→1113)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10(1113→1123)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28(1123→1151)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8(1151→1159)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2(1159→1161)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5(1161→1166)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10(1166→1176)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19(1178→1197)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8(1197→1205)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12(1040→1052)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31(1052→1083)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4(1083→1087)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36(1087→1123)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13(1132→1145)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20(1149→1169)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3(1172→1175)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18(1179→1197)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13(1204→1217)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3(1217→1220)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2(1220→1222)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7(1036→1043)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9(1043→1052)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3(1068→1071)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1(1071→1072)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3(1072→1075)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9(1079→1088)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9(1088→1097)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2(1097→1099)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3(1099→1102)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1(1102→1103)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24(1103→1127)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19(1153→1172)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4(1173→1177)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3(1177→1180)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1(1180→1181)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10(1191→1201)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9(1201→1210)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10(1210→1220)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12(1046→1058)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3(1059→1062)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8(1073→1081)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3(1110→1113)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2(1113→1115)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20(1126→1146)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15(1146→1161)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4(1192→1196)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14(1196→1210)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8(1044→1052)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10(1052→1062)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4(1064→1068)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3(1085→1088)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1(1099→1100)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4(1100→1104)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17(1104→1121)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8(1121→1129)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6(1129→1135)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1(1135→1136)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5(1136→1141)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10(1168→1178)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33(1180→1213)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2(1215→1217)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1228회 예측 — 과거 10회 최고 적중 패턴 기준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1218~1227 각 회차를 직전 데이터로 예측한 패턴 성적 상위 5개 → 그 패턴들의 1228회 후보 (괄호=여러 패턴이 공통 출력한 번호)</a:t>
            </a:r>
          </a:p>
        </p:txBody>
      </p:sp>
      <p:sp>
        <p:nvSpPr>
          <p:cNvPr id="4" name="h0"/>
          <p:cNvSpPr txBox="1"/>
          <p:nvPr/>
        </p:nvSpPr>
        <p:spPr>
          <a:xfrm>
            <a:off x="4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① 적중회차 비율 기준 (10회 중 ≥1개 적중한 회차 수)</a:t>
            </a:r>
          </a:p>
        </p:txBody>
      </p:sp>
      <p:graphicFrame>
        <p:nvGraphicFramePr>
          <p:cNvPr id="5" name="t0"/>
          <p:cNvGraphicFramePr/>
          <p:nvPr/>
        </p:nvGraphicFramePr>
        <p:xfrm>
          <a:off x="4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1228후보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곱집합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1 16 36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2 4 7 11 37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0.72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1 3 17 18 38 40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p0"/>
          <p:cNvSpPr txBox="1"/>
          <p:nvPr/>
        </p:nvSpPr>
        <p:spPr>
          <a:xfrm>
            <a:off x="4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1(2), 2, 3, 4, 7, 11, 13, 16, 17, 18, 36, 37, 38, 40, 42</a:t>
            </a:r>
          </a:p>
        </p:txBody>
      </p:sp>
      <p:sp>
        <p:nvSpPr>
          <p:cNvPr id="7" name="h1"/>
          <p:cNvSpPr txBox="1"/>
          <p:nvPr/>
        </p:nvSpPr>
        <p:spPr>
          <a:xfrm>
            <a:off x="63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② lift(효율) 기준 (후보 1개당 적중률, 1.0 = 무작위)</a:t>
            </a:r>
          </a:p>
        </p:txBody>
      </p:sp>
      <p:graphicFrame>
        <p:nvGraphicFramePr>
          <p:cNvPr id="8" name="t1"/>
          <p:cNvGraphicFramePr/>
          <p:nvPr/>
        </p:nvGraphicFramePr>
        <p:xfrm>
          <a:off x="63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1228후보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위치차 |d4-d1|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곱집합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1 16 36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p1"/>
          <p:cNvSpPr txBox="1"/>
          <p:nvPr/>
        </p:nvSpPr>
        <p:spPr>
          <a:xfrm>
            <a:off x="63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1, 3, 13, 16, 33, 36, 42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1218~1227 사후(in-sample) 과적합 결과 — 62개 패턴 중 이 구간에서 우연히 잘 맞은 컷일 뿐, 1228회 적중을 보장하지 않습니다(로또는 독립 난수).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과거 10회 상위 패턴 — 회차별 적중 상세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1228회 예측에 쓰인 상위 패턴들이 1218~1227 각 회차에 실제로 맞춘 번호 (회차:번호)</a:t>
            </a:r>
          </a:p>
        </p:txBody>
      </p:sp>
      <p:graphicFrame>
        <p:nvGraphicFramePr>
          <p:cNvPr id="4" name="pht"/>
          <p:cNvGraphicFramePr/>
          <p:nvPr/>
        </p:nvGraphicFramePr>
        <p:xfrm>
          <a:off x="796000" y="1350000"/>
          <a:ext cx="10600000" cy="3040000"/>
        </p:xfrm>
        <a:graphic>
          <a:graphicData uri="http://schemas.openxmlformats.org/drawingml/2006/table">
            <a:tbl>
              <a:tblPr firstRow="1" bandRow="1"/>
              <a:tblGrid>
                <a:gridCol w="2500000"/>
                <a:gridCol w="81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 회차:번호 (회당)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끝수 곱집합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1218:45   1219:1   1220:25   1223:16   1224:9,45   1225:19,25   1226:4   1227:16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(7회)  1218:28   1219:2   1223:33   1224:9,45   1225:9   1226:6,13   1227:44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d2+d6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(5회)  1219:28   1220:2   1222:4   1226:6   1227:34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1219:45   1221:36   1225:8   1226:4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1218:3   1220:34   1222:22   1226:13,17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위치차 |d4-d1|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1222:22   1223:18   1226:17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d2+d4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1219:15   1222:41   1223:33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298000"/>
            <a:ext cx="11392000" cy="4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1218~1227 사후 실측 — 과거 적중일 뿐 미래 적중 보장 아님(로또는 독립 난수).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1228회 ◎ 반복임계 스윕 — 과거 10회 적중률 백테스트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◎ 기준 = 다음간격이 과거 N회 이상 반복. N을 4~7로 바꿔 1218~1227 각 회차를 직전 195회 창으로 예측 → ◎ 번호가 실제 당첨에 든 비율(번호 기준). 무작위 기대 13.3%</a:t>
            </a:r>
          </a:p>
        </p:txBody>
      </p:sp>
      <p:graphicFrame>
        <p:nvGraphicFramePr>
          <p:cNvPr id="4" name="gct"/>
          <p:cNvGraphicFramePr/>
          <p:nvPr/>
        </p:nvGraphicFramePr>
        <p:xfrm>
          <a:off x="1596000" y="1380000"/>
          <a:ext cx="9000000" cy="1900000"/>
        </p:xfrm>
        <a:graphic>
          <a:graphicData uri="http://schemas.openxmlformats.org/drawingml/2006/table">
            <a:tbl>
              <a:tblPr firstRow="1" bandRow="1"/>
              <a:tblGrid>
                <a:gridCol w="1400000"/>
                <a:gridCol w="1700000"/>
                <a:gridCol w="1100000"/>
                <a:gridCol w="1700000"/>
                <a:gridCol w="31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반복 N회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 총수(분모)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적중률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1228회 ◎ 예측번호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22.2%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1, 3, 7, 11, 14, 20, 42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22.4%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1, 7, 11, 14, 42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C00000"/>
                          </a:solidFill>
                        </a:rPr>
                        <a:t>28.6%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11, 14, 42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7회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msg"/>
          <p:cNvSpPr txBox="1"/>
          <p:nvPr/>
        </p:nvSpPr>
        <p:spPr>
          <a:xfrm>
            <a:off x="1596000" y="3530000"/>
            <a:ext cx="9000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50" b="1">
                <a:solidFill>
                  <a:srgbClr val="1F3864"/>
                </a:solidFill>
              </a:rPr>
              <a:t>▶ 분모 5건 이상 중 최고 적중률: N=6회 (8/28 = 28.6%)  ·  1228회 해당 ◎ 예측번호: 11, 14, 42</a:t>
            </a:r>
          </a:p>
        </p:txBody>
      </p:sp>
      <p:sp>
        <p:nvSpPr>
          <p:cNvPr id="6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n=10 사후(in-sample) 스윕 — 4개 중 '최고'를 고르는 건 다중비교 과적합이고, 분모가 작은 컷오프의 높은 %는 우연입니다. 1228회 적중을 보장하지 않습니다(로또는 독립 난수).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◎ 반복임계 — 회차별 ◎번호·반복수·적중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1218~1227 각 회차의 ◎번호(반복수≥4)와 실제 당첨된 번호(빨강). 반복수가 N이면 컷오프 N까지의 ◎에 포함됩니다.</a:t>
            </a:r>
          </a:p>
        </p:txBody>
      </p:sp>
      <p:graphicFrame>
        <p:nvGraphicFramePr>
          <p:cNvPr id="4" name="ght"/>
          <p:cNvGraphicFramePr/>
          <p:nvPr/>
        </p:nvGraphicFramePr>
        <p:xfrm>
          <a:off x="796000" y="1320000"/>
          <a:ext cx="10600000" cy="3630000"/>
        </p:xfrm>
        <a:graphic>
          <a:graphicData uri="http://schemas.openxmlformats.org/drawingml/2006/table">
            <a:tbl>
              <a:tblPr firstRow="1" bandRow="1"/>
              <a:tblGrid>
                <a:gridCol w="1100000"/>
                <a:gridCol w="7800000"/>
                <a:gridCol w="1700000"/>
              </a:tblGrid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◎번호 : 반복수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2, 45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29:7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18, 30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4, 11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30:7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32, 33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38:5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9, 21, 45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25:7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8, 25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4, 6, 28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3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34:9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44:5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14, 34, 44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반복수 N = 그 다음간격이 과거 N회 반복. N=4·5·6·7 컷오프 포함 여부가 갈립니다. 1218~1227 사후 실측 — 미래 적중 보장 아님.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