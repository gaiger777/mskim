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400" b="1">
                <a:solidFill>
                  <a:srgbClr val="1F3864"/>
                </a:solidFill>
              </a:rPr>
              <a:t>1231회차 로또 패턴 분석 리포트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기준 1230회 · 학습창 200주 · 분석기 가중치 = 효과크기 z (소표본 보정)</a:t>
            </a:r>
          </a:p>
        </p:txBody>
      </p:sp>
      <p:sp>
        <p:nvSpPr>
          <p:cNvPr id="4" name="zt"/>
          <p:cNvSpPr txBox="1"/>
          <p:nvPr/>
        </p:nvSpPr>
        <p:spPr>
          <a:xfrm>
            <a:off x="400000" y="1300000"/>
            <a:ext cx="58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패턴별 효과크기(z·가중치) 순위</a:t>
            </a:r>
          </a:p>
        </p:txBody>
      </p:sp>
      <p:graphicFrame>
        <p:nvGraphicFramePr>
          <p:cNvPr id="5" name="ztbl"/>
          <p:cNvGraphicFramePr/>
          <p:nvPr/>
        </p:nvGraphicFramePr>
        <p:xfrm>
          <a:off x="400000" y="1660000"/>
          <a:ext cx="5500000" cy="4900000"/>
        </p:xfrm>
        <a:graphic>
          <a:graphicData uri="http://schemas.openxmlformats.org/drawingml/2006/table">
            <a:tbl>
              <a:tblPr firstRow="1" bandRow="1"/>
              <a:tblGrid>
                <a:gridCol w="620000"/>
                <a:gridCol w="1500000"/>
                <a:gridCol w="760000"/>
                <a:gridCol w="820000"/>
                <a:gridCol w="1100000"/>
                <a:gridCol w="700000"/>
              </a:tblGrid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적중/예측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장기미출현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+1.91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23.26%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10/43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15.86%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46/290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궁합수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15.69%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32/204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+0.91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17.65%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9/51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오프셋(주기)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+0.62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연승패턴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15/100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14.22%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13.64%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45/330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누적빈도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끝수통계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AC패턴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번호대빈도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27/203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13.03%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37/284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멸구간(주기)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13.05%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59/452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홀짝균형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12.81%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26/203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이월수(주기)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12.76%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67/525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12.27%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20/163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이웃수(주기)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최근강세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12.36%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43/348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대각선(주기)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-0.64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10.20%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5/49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5의배수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-0.76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15/135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소수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11.43%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dt"/>
          <p:cNvSpPr txBox="1"/>
          <p:nvPr/>
        </p:nvSpPr>
        <p:spPr>
          <a:xfrm>
            <a:off x="6700000" y="1300000"/>
            <a:ext cx="50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추천 순위그룹별 당첨 분포 (최근 200주)</a:t>
            </a:r>
          </a:p>
        </p:txBody>
      </p:sp>
      <p:graphicFrame>
        <p:nvGraphicFramePr>
          <p:cNvPr id="7" name="dtbl"/>
          <p:cNvGraphicFramePr/>
          <p:nvPr/>
        </p:nvGraphicFramePr>
        <p:xfrm>
          <a:off x="6700000" y="1660000"/>
          <a:ext cx="3700000" cy="300000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100000"/>
                <a:gridCol w="11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 그룹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당첨 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1-5위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6-10위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13.08%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11-15위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16-20위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21-25위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26-30위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31-35위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10.42%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36-40위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41-45위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9.83%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summary"/>
          <p:cNvSpPr txBox="1"/>
          <p:nvPr/>
        </p:nvSpPr>
        <p:spPr>
          <a:xfrm>
            <a:off x="6700000" y="4910000"/>
            <a:ext cx="5000000" cy="1600000"/>
          </a:xfrm>
          <a:prstGeom prst="rect">
            <a:avLst/>
          </a:prstGeom>
        </p:spPr>
        <p:txBody>
          <a:bodyPr wrap="square"/>
          <a:lstStyle/>
          <a:p>
            <a:br/>
            <a:r>
              <a:rPr lang="ko-KR" sz="1000" b="0">
                <a:solidFill>
                  <a:srgbClr val="A6A6A6"/>
                </a:solidFill>
              </a:rPr>
              <a:t>※ 로또는 독립 난수 — 본 리포트는 통계적 참고용이며 적중을 보장하지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노랑 음영 = 자동 추천 5게임에 포함된 번호</a:t>
            </a:r>
          </a:p>
        </p:txBody>
      </p:sp>
      <p:graphicFrame>
        <p:nvGraphicFramePr>
          <p:cNvPr id="4" name="rk0"/>
          <p:cNvGraphicFramePr/>
          <p:nvPr/>
        </p:nvGraphicFramePr>
        <p:xfrm>
          <a:off x="836000" y="130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4.52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3의배수,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4.08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3의배수, 출현주기, 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3의배수,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3.79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3.77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합계균형, 고저균형, 주기300,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2.80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3.79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2.58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2.66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(2/3)</a:t>
            </a:r>
          </a:p>
        </p:txBody>
      </p:sp>
      <p:graphicFrame>
        <p:nvGraphicFramePr>
          <p:cNvPr id="3" name="rk1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미출현, 출현주기,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(3/3)</a:t>
            </a:r>
          </a:p>
        </p:txBody>
      </p:sp>
      <p:graphicFrame>
        <p:nvGraphicFramePr>
          <p:cNvPr id="3" name="rk2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0.62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끝수이월,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1231회차 자동 추천 5게임 · 로또 용지 표기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로또 용지(7열×7행) · 빨강 = 선택 번호 · 세로열 최대 2개</a:t>
            </a:r>
          </a:p>
        </p:txBody>
      </p:sp>
      <p:sp>
        <p:nvSpPr>
          <p:cNvPr id="4" name="lblA"/>
          <p:cNvSpPr txBox="1"/>
          <p:nvPr/>
        </p:nvSpPr>
        <p:spPr>
          <a:xfrm>
            <a:off x="400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5" name="gridA"/>
          <p:cNvGraphicFramePr/>
          <p:nvPr/>
        </p:nvGraphicFramePr>
        <p:xfrm>
          <a:off x="400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numA"/>
          <p:cNvSpPr txBox="1"/>
          <p:nvPr/>
        </p:nvSpPr>
        <p:spPr>
          <a:xfrm>
            <a:off x="400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10 21 23 27 36 45</a:t>
            </a:r>
          </a:p>
        </p:txBody>
      </p:sp>
      <p:sp>
        <p:nvSpPr>
          <p:cNvPr id="7" name="metaA"/>
          <p:cNvSpPr txBox="1"/>
          <p:nvPr/>
        </p:nvSpPr>
        <p:spPr>
          <a:xfrm>
            <a:off x="400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162 · 홀4:짝2</a:t>
            </a:r>
          </a:p>
        </p:txBody>
      </p:sp>
      <p:sp>
        <p:nvSpPr>
          <p:cNvPr id="8" name="lblB"/>
          <p:cNvSpPr txBox="1"/>
          <p:nvPr/>
        </p:nvSpPr>
        <p:spPr>
          <a:xfrm>
            <a:off x="2723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9" name="gridB"/>
          <p:cNvGraphicFramePr/>
          <p:nvPr/>
        </p:nvGraphicFramePr>
        <p:xfrm>
          <a:off x="2723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numB"/>
          <p:cNvSpPr txBox="1"/>
          <p:nvPr/>
        </p:nvSpPr>
        <p:spPr>
          <a:xfrm>
            <a:off x="2723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02 15 18 23 39 45</a:t>
            </a:r>
          </a:p>
        </p:txBody>
      </p:sp>
      <p:sp>
        <p:nvSpPr>
          <p:cNvPr id="11" name="metaB"/>
          <p:cNvSpPr txBox="1"/>
          <p:nvPr/>
        </p:nvSpPr>
        <p:spPr>
          <a:xfrm>
            <a:off x="2723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142 · 홀4:짝2</a:t>
            </a:r>
          </a:p>
        </p:txBody>
      </p:sp>
      <p:sp>
        <p:nvSpPr>
          <p:cNvPr id="12" name="lblC"/>
          <p:cNvSpPr txBox="1"/>
          <p:nvPr/>
        </p:nvSpPr>
        <p:spPr>
          <a:xfrm>
            <a:off x="5046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3" name="gridC"/>
          <p:cNvGraphicFramePr/>
          <p:nvPr/>
        </p:nvGraphicFramePr>
        <p:xfrm>
          <a:off x="5046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" name="numC"/>
          <p:cNvSpPr txBox="1"/>
          <p:nvPr/>
        </p:nvSpPr>
        <p:spPr>
          <a:xfrm>
            <a:off x="5046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15 20 21 23 32 45</a:t>
            </a:r>
          </a:p>
        </p:txBody>
      </p:sp>
      <p:sp>
        <p:nvSpPr>
          <p:cNvPr id="15" name="metaC"/>
          <p:cNvSpPr txBox="1"/>
          <p:nvPr/>
        </p:nvSpPr>
        <p:spPr>
          <a:xfrm>
            <a:off x="5046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156 · 홀4:짝2</a:t>
            </a:r>
          </a:p>
        </p:txBody>
      </p:sp>
      <p:sp>
        <p:nvSpPr>
          <p:cNvPr id="16" name="lblD"/>
          <p:cNvSpPr txBox="1"/>
          <p:nvPr/>
        </p:nvSpPr>
        <p:spPr>
          <a:xfrm>
            <a:off x="7369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17" name="gridD"/>
          <p:cNvGraphicFramePr/>
          <p:nvPr/>
        </p:nvGraphicFramePr>
        <p:xfrm>
          <a:off x="7369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" name="numD"/>
          <p:cNvSpPr txBox="1"/>
          <p:nvPr/>
        </p:nvSpPr>
        <p:spPr>
          <a:xfrm>
            <a:off x="7369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15 23 27 33 36 42</a:t>
            </a:r>
          </a:p>
        </p:txBody>
      </p:sp>
      <p:sp>
        <p:nvSpPr>
          <p:cNvPr id="19" name="metaD"/>
          <p:cNvSpPr txBox="1"/>
          <p:nvPr/>
        </p:nvSpPr>
        <p:spPr>
          <a:xfrm>
            <a:off x="7369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176 · 홀4:짝2</a:t>
            </a:r>
          </a:p>
        </p:txBody>
      </p:sp>
      <p:sp>
        <p:nvSpPr>
          <p:cNvPr id="20" name="lblE"/>
          <p:cNvSpPr txBox="1"/>
          <p:nvPr/>
        </p:nvSpPr>
        <p:spPr>
          <a:xfrm>
            <a:off x="9692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1" name="gridE"/>
          <p:cNvGraphicFramePr/>
          <p:nvPr/>
        </p:nvGraphicFramePr>
        <p:xfrm>
          <a:off x="9692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2" name="numE"/>
          <p:cNvSpPr txBox="1"/>
          <p:nvPr/>
        </p:nvSpPr>
        <p:spPr>
          <a:xfrm>
            <a:off x="9692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11 21 23 32 33 38</a:t>
            </a:r>
          </a:p>
        </p:txBody>
      </p:sp>
      <p:sp>
        <p:nvSpPr>
          <p:cNvPr id="23" name="metaE"/>
          <p:cNvSpPr txBox="1"/>
          <p:nvPr/>
        </p:nvSpPr>
        <p:spPr>
          <a:xfrm>
            <a:off x="9692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158 · 홀4:짝2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1036~1230회)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74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적중 = 그 순위 추천번호가 당첨이었던 횟수  ·  간격(차이수) 형식: 차이(전회차→후회차)  ·  다음간격 = 1231회 − 마지막 재출현회차  ·  ◎ = 다음간격이 과거 5회 이상 재출현(반복) / − = 아님</a:t>
            </a:r>
          </a:p>
        </p:txBody>
      </p:sp>
      <p:sp>
        <p:nvSpPr>
          <p:cNvPr id="4" name="banner"/>
          <p:cNvSpPr txBox="1"/>
          <p:nvPr/>
        </p:nvSpPr>
        <p:spPr>
          <a:xfrm>
            <a:off x="400000" y="1170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1">
                <a:solidFill>
                  <a:srgbClr val="C00000"/>
                </a:solidFill>
              </a:rPr>
              <a:t>◎ 1231회 재출현 유력 번호 (4개, 다음간격 과거 5회↑ 반복): 23, 1, 20, 37</a:t>
            </a:r>
          </a:p>
        </p:txBody>
      </p:sp>
      <p:graphicFrame>
        <p:nvGraphicFramePr>
          <p:cNvPr id="5" name="rh0"/>
          <p:cNvGraphicFramePr/>
          <p:nvPr/>
        </p:nvGraphicFramePr>
        <p:xfrm>
          <a:off x="486000" y="174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9(1039→1048)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12(1048→1060)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5(1060→1065)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7(1065→1072)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14(1074→1088)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4(1098→1102)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7(1102→1109)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4(1109→1113)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7(1118→1125)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10(1125→1135)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2(1137→1139)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30(1143→1173)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13(1188→1201)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9(1047→1056)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5(1056→1061)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6(1076→1082)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20(1101→1121)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3(1121→1124)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3(1124→1127)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4(1127→1131)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3(1131→1134)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26(1134→1160)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26(1166→1192)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7(1192→1199)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2(1199→1201)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8(1207→1215)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9(1215→1224)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4(1224→1228)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1(1037→1038)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1(1038→1039)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6(1039→1045)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14(1045→1059)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23(1060→1083)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6(1083→1089)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3(1089→1092)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6(1092→1098)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7(1115→1122)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8(1122→1130)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21(1130→1151)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10(1151→1161)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1(1162→1163)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1(1195→1196)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20(1196→1216)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6(1217→1223)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30(1052→1082)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6(1082→1088)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1(1088→1089)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1(1089→1090)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4(1090→1094)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18(1094→1112)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39(1112→1151)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6(1151→1157)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11(1157→1168)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2(1180→1182)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5(1196→1201)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2(1201→1203)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1(1218→1219)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3(1219→1222)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3(1222→1225)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4(1039→1043)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3(1043→1046)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23(1046→1069)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2(1069→1071)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8(1071→1079)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7(1079→1086)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5(1086→1091)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1(1091→1092)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13(1093→1106)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9(1109→1118)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8(1118→1126)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7(1126→1133)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6(1133→1139)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6(1139→1145)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1(1149→1150)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6(1152→1158)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9(1165→1174)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14(1174→1188)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6(1188→1194)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5(1194→1199)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11(1199→1210)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4(1210→1214)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12(1214→1226)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2(1226→1228)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1(1036→1037)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3(1037→1040)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1(1040→1041)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10(1041→1051)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4(1051→1055)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28(1055→1083)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7(1085→1092)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2(1092→1094)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3(1094→1097)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8(1097→1105)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9(1107→1116)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18(1116→1134)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6(1135→1141)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3(1141→1144)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15(1144→1159)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1(1164→1165)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12(1168→1180)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6(1180→1186)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16(1202→1218)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6(1048→1054)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10(1054→1064)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18(1064→1082)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2(1082→1084)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15(1084→1099)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5(1099→1104)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10(1106→1116)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15(1117→1132)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1(1133→1134)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17(1140→1157)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7(1169→1176)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6(1177→1183)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9(1183→1192)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2(1192→1194)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3(1203→1206)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11(1209→1220)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1(1220→1221)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1(1041→1042)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8(1042→1050)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1(1054→1055)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3(1061→1064)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3(1064→1067)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8(1067→1075)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1(1079→1080)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3(1081→1084)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7(1084→1091)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10(1091→1101)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15(1122→1137)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10(1137→1147)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11(1147→1158)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8(1158→1166)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38(1166→1204)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1(1204→1205)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5(1205→1210)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10(1210→1220)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7(1220→1227)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3(1039→1042)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4(1042→1046)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7(1046→1053)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6(1060→1066)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1(1066→1067)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3(1067→1070)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7(1077→1084)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6(1084→1090)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12(1100→1112)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12(1112→1124)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4(1124→1128)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43(1128→1171)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20(1177→1197)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15(1197→1212)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16(1212→1228)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7(1051→1058)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3(1058→1061)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7(1061→1068)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8(1068→1076)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19(1076→1095)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6(1095→1101)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7(1101→1108)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9(1110→1119)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10(1131→1141)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8(1141→1149)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2(1149→1151)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4(1153→1157)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2(1191→1193)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6(1193→1199)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8(1199→1207)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3(1211→1214)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3(1041→1044)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1(1044→1045)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5(1045→1050)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12(1080→1092)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9(1092→1101)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2(1101→1103)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1(1103→1104)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23(1105→1128)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2(1128→1130)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6(1130→1136)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6(1136→1142)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5(1142→1147)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13(1147→1160)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2(1160→1162)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8(1162→1170)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10(1170→1180)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3(1180→1183)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15(1183→1198)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8(1201→1209)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3(1209→1212)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6(1215→1221)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1(1037→1038)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11(1038→1049)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15(1049→1064)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9(1064→1073)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7(1073→1080)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5(1091→1096)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6(1097→1103)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8(1114→1122)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22(1125→1147)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1(1147→1148)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8(1148→1156)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2(1156→1158)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16(1173→1189)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7(1189→1196)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4(1209→1213)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6(1041→1047)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7(1047→1054)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2(1054→1056)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7(1056→1063)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10(1063→1073)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2(1073→1075)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5(1090→1095)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5(1095→1100)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9(1101→1110)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8(1111→1119)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7(1119→1126)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2(1126→1128)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15(1128→1143)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7(1143→1150)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7(1152→1159)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15(1159→1174)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2(1174→1176)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4(1176→1180)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12(1180→1192)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6(1192→1198)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10(1198→1208)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2(1208→1210)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2(1219→1221)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6(1044→1050)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12(1071→1083)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3(1083→1086)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2(1086→1088)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2(1088→1090)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17(1090→1107)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8(1109→1117)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2(1117→1119)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27(1119→1146)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7(1181→1188)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1(1188→1189)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2(1189→1191)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9(1191→1200)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5(1200→1205)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9(1205→1214)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15(1214→1229)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7(1038→1045)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16(1048→1064)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6(1065→1071)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15(1078→1093)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18(1093→1111)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5(1111→1116)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11(1116→1127)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7(1127→1134)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15(1134→1149)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6(1149→1155)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12(1156→1168)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2(1171→1173)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22(1173→1195)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18(1195→1213)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3(1218→1221)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5(1221→1226)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1036~1230회)  (2/3)</a:t>
            </a:r>
          </a:p>
        </p:txBody>
      </p:sp>
      <p:graphicFrame>
        <p:nvGraphicFramePr>
          <p:cNvPr id="3" name="rh1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5(1039→1044)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9(1044→1053)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3(1053→1056)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36(1056→1092)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12(1092→1104)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3(1107→1110)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14(1112→1126)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5(1126→1131)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4(1137→1141)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10(1141→1151)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17(1151→1168)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7(1177→1184)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5(1191→1196)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1(1196→1197)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5(1197→1202)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1(1203→1204)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15(1059→1074)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31(1074→1105)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9(1105→1114)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1(1120→1121)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9(1127→1136)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3(1136→1139)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1(1144→1145)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3(1145→1148)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5(1150→1155)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5(1178→1183)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7(1183→1190)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10(1190→1200)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1(1200→1201)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5(1201→1206)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5(1206→1211)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2(1212→1214)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7(1050→1057)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5(1058→1063)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8(1063→1071)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4(1076→1080)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19(1080→1099)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22(1099→1121)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9(1121→1130)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3(1152→1155)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4(1175→1179)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4(1179→1183)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9(1189→1198)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2(1198→1200)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3(1200→1203)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8(1222→1230)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8(1054→1062)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2(1064→1066)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7(1066→1073)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5(1073→1078)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3(1078→1081)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6(1081→1087)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6(1115→1121)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15(1121→1136)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2(1136→1138)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1(1138→1139)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14(1168→1182)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6(1182→1188)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5(1188→1193)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2(1195→1197)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1(1197→1198)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7(1040→1047)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2(1047→1049)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2(1049→1051)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10(1051→1061)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2(1061→1063)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7(1063→1070)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9(1080→1089)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19(1089→1108)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10(1108→1118)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11(1118→1129)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1(1129→1130)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8(1131→1139)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4(1148→1152)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8(1152→1160)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3(1160→1163)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8(1163→1171)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23(1192→1215)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8(1215→1223)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2(1223→1225)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2(1225→1227)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7(1038→1045)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4(1045→1049)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15(1057→1072)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3(1082→1085)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1(1095→1096)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7(1096→1103)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19(1105→1124)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2(1125→1127)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10(1127→1137)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2(1140→1142)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4(1142→1146)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2(1146→1148)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2(1153→1155)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4(1155→1159)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45(1159→1204)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4(1204→1208)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14(1042→1056)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6(1056→1062)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16(1062→1078)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5(1078→1083)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17(1083→1100)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9(1100→1109)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1(1109→1110)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7(1110→1117)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19(1123→1142)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4(1152→1156)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18(1164→1182)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3(1182→1185)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12(1195→1207)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7(1207→1214)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8(1214→1222)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1(1043→1044)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5(1044→1049)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10(1049→1059)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2(1070→1072)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4(1086→1090)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3(1090→1093)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24(1093→1117)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10(1122→1132)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8(1132→1140)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14(1149→1163)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1(1163→1164)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18(1169→1187)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8(1187→1195)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3(1195→1198)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16(1198→1214)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9(1214→1223)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5(1043→1048)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7(1048→1055)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2(1055→1057)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3(1057→1060)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1(1060→1061)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17(1093→1110)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4(1111→1115)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21(1123→1144)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8(1167→1175)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3(1196→1199)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7(1216→1223)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4(1038→1042)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9(1042→1051)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6(1051→1057)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10(1062→1072)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27(1072→1099)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23(1099→1122)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6(1125→1131)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9(1131→1140)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8(1140→1148)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22(1148→1170)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9(1176→1185)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21(1185→1206)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18(1206→1224)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14(1053→1067)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1(1067→1068)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2(1068→1070)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4(1070→1074)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34(1074→1108)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28(1108→1136)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12(1137→1149)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17(1149→1166)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10(1175→1185)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1(1207→1208)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13(1040→1053)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17(1060→1077)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13(1077→1090)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6(1100→1106)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5(1106→1111)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6(1111→1117)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7(1117→1124)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4(1128→1132)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3(1132→1135)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3(1135→1138)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4(1138→1142)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14(1152→1166)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2(1175→1177)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5(1177→1182)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7(1182→1189)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15(1192→1207)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1(1212→1213)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3(1213→1216)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3(1216→1219)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1(1036→1037)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18(1037→1055)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5(1061→1066)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13(1066→1079)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4(1079→1083)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20(1083→1103)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7(1105→1112)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1(1114→1115)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4(1115→1119)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16(1127→1143)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3(1143→1146)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4(1147→1151)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3(1151→1154)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3(1154→1157)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8(1170→1178)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21(1178→1199)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4(1199→1203)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3(1037→1040)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5(1040→1045)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10(1046→1056)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25(1056→1081)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3(1093→1096)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18(1096→1114)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19(1120→1139)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3(1139→1142)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19(1142→1161)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6(1161→1167)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30(1167→1197)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13(1197→1210)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15(1210→1225)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2(1041→1043)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6(1043→1049)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6(1057→1063)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6(1063→1069)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9(1077→1086)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3(1086→1089)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25(1094→1119)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26(1120→1146)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18(1146→1164)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16(1169→1185)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2(1185→1187)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26(1187→1213)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14(1215→1229)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1036~1230회)  (3/3)</a:t>
            </a:r>
          </a:p>
        </p:txBody>
      </p:sp>
      <p:graphicFrame>
        <p:nvGraphicFramePr>
          <p:cNvPr id="3" name="rh2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37(1038→1075)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11(1075→1086)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11(1086→1097)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7(1097→1104)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20(1104→1124)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6(1124→1130)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2(1130→1132)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6(1134→1140)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15(1143→1158)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3(1158→1161)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6(1164→1170)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14(1170→1184)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6(1184→1190)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8(1190→1198)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4(1198→1202)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3(1202→1205)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13(1205→1218)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11(1218→1229)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1(1229→1230)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3(1056→1059)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30(1066→1096)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3(1102→1105)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7(1108→1115)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1(1123→1124)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18(1135→1153)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6(1166→1172)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12(1174→1186)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7(1187→1194)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3(1220→1223)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2(1044→1046)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10(1048→1058)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26(1058→1084)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21(1091→1112)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10(1118→1128)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10(1128→1138)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2(1138→1140)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1(1140→1141)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1(1141→1142)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2(1142→1144)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3(1144→1147)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10(1147→1157)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5(1174→1179)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7(1179→1186)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4(1202→1206)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5(1225→1230)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1(1052→1053)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1(1068→1069)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4(1069→1073)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24(1094→1118)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2(1118→1120)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3(1120→1123)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2(1123→1125)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8(1125→1133)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20(1133→1153)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3(1153→1156)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15(1156→1171)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8(1181→1189)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16(1189→1205)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6(1205→1211)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5(1212→1217)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14(1052→1066)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4(1077→1081)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2(1098→1100)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5(1101→1106)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7(1109→1116)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2(1116→1118)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4(1118→1122)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4(1134→1138)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25(1138→1163)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6(1163→1169)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20(1169→1189)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4(1190→1194)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5(1195→1200)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4(1200→1204)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8(1204→1212)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8(1212→1220)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6(1220→1226)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71(1055→1126)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2(1129→1131)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2(1131→1133)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7(1154→1161)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3(1162→1165)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4(1177→1181)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2(1182→1184)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3(1205→1208)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5(1222→1227)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22(1036→1058)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3(1062→1065)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6(1066→1072)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1(1075→1076)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26(1076→1102)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16(1113→1129)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3(1129→1132)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7(1138→1145)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1(1154→1155)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16(1155→1171)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36(1186→1222)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4(1222→1226)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6(1036→1042)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17(1042→1059)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7(1060→1067)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2(1067→1069)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7(1069→1076)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9(1078→1087)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8(1087→1095)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2(1095→1097)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12(1102→1114)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9(1120→1129)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12(1129→1141)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12(1141→1153)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23(1153→1176)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8(1176→1184)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24(1202→1226)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9(1040→1049)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12(1057→1069)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1(1069→1070)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3(1071→1074)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10(1074→1084)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7(1088→1095)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8(1095→1103)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2(1114→1116)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10(1116→1126)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4(1129→1133)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16(1138→1154)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2(1154→1156)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1(1156→1157)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6(1157→1163)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7(1163→1170)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4(1170→1174)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4(1174→1178)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6(1178→1184)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18(1185→1203)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18(1208→1226)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13(1037→1050)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5(1050→1055)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19(1055→1074)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5(1075→1080)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4(1080→1084)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12(1087→1099)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7(1099→1106)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2(1109→1111)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17(1111→1128)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18(1128→1146)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21(1146→1167)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1(1173→1174)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10(1174→1184)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17(1206→1223)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4(1223→1227)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3(1036→1039)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3(1039→1042)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9(1042→1051)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16(1051→1067)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12(1067→1079)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6(1102→1108)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5(1108→1113)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10(1113→1123)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28(1123→1151)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8(1151→1159)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2(1159→1161)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5(1161→1166)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10(1166→1176)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2(1176→1178)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18(1179→1197)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3(1217→1220)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12(1040→1052)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31(1052→1083)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14(1083→1097)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26(1097→1123)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9(1123→1132)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13(1132→1145)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20(1149→1169)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3(1172→1175)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5(1175→1180)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17(1180→1197)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25(1204→1229)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7(1036→1043)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3(1068→1071)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1(1071→1072)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3(1072→1075)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9(1079→1088)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10(1088→1098)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3(1099→1102)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1(1102→1103)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24(1103→1127)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3(1127→1130)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19(1153→1172)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8(1173→1181)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1(1187→1188)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10(1191→1201)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9(1201→1210)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3(1225→1228)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12(1046→1058)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3(1059→1062)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8(1073→1081)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1(1093→1094)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3(1110→1113)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2(1113→1115)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20(1126→1146)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15(1146→1161)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2(1161→1163)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19(1167→1186)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4(1192→1196)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14(1196→1210)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7(1210→1217)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1(1221→1222)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8(1044→1052)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10(1052→1062)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3(1085→1088)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1(1099→1100)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4(1100→1104)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17(1104→1121)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8(1121→1129)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6(1129→1135)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5(1136→1141)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14(1141→1155)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9(1168→1177)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1(1177→1178)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33(1180→1213)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2(1215→1217)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1231회 예측 — 과거 10회 최고 적중 패턴 기준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1221~1230 각 회차를 직전 데이터로 예측한 패턴 성적 상위 5개 → 그 패턴들의 1231회 후보 (괄호=여러 패턴이 공통 출력한 번호)</a:t>
            </a:r>
          </a:p>
        </p:txBody>
      </p:sp>
      <p:sp>
        <p:nvSpPr>
          <p:cNvPr id="4" name="h0"/>
          <p:cNvSpPr txBox="1"/>
          <p:nvPr/>
        </p:nvSpPr>
        <p:spPr>
          <a:xfrm>
            <a:off x="4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① 적중회차 비율 기준 (10회 중 ≥1개 적중한 회차 수)</a:t>
            </a:r>
          </a:p>
        </p:txBody>
      </p:sp>
      <p:graphicFrame>
        <p:nvGraphicFramePr>
          <p:cNvPr id="5" name="t0"/>
          <p:cNvGraphicFramePr/>
          <p:nvPr/>
        </p:nvGraphicFramePr>
        <p:xfrm>
          <a:off x="4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1231후보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4 9 19 36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1.05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10 11 13 22 39 45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|d4-d1|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인접차 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0.68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1 5 6 13 14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p0"/>
          <p:cNvSpPr txBox="1"/>
          <p:nvPr/>
        </p:nvSpPr>
        <p:spPr>
          <a:xfrm>
            <a:off x="4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13(2), 19(2), 1, 4, 5, 6, 9, 10, 11, 14, 22, 31, 36, 39, 45</a:t>
            </a:r>
          </a:p>
        </p:txBody>
      </p:sp>
      <p:sp>
        <p:nvSpPr>
          <p:cNvPr id="7" name="h1"/>
          <p:cNvSpPr txBox="1"/>
          <p:nvPr/>
        </p:nvSpPr>
        <p:spPr>
          <a:xfrm>
            <a:off x="63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② lift(효율) 기준 (후보 1개당 적중률, 1.0 = 무작위)</a:t>
            </a:r>
          </a:p>
        </p:txBody>
      </p:sp>
      <p:graphicFrame>
        <p:nvGraphicFramePr>
          <p:cNvPr id="8" name="t1"/>
          <p:cNvGraphicFramePr/>
          <p:nvPr/>
        </p:nvGraphicFramePr>
        <p:xfrm>
          <a:off x="63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1231후보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|d4-d1|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|d6-d4|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p1"/>
          <p:cNvSpPr txBox="1"/>
          <p:nvPr/>
        </p:nvSpPr>
        <p:spPr>
          <a:xfrm>
            <a:off x="63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5, 17, 19, 20, 31</a:t>
            </a:r>
          </a:p>
        </p:txBody>
      </p:sp>
      <p:sp>
        <p:nvSpPr>
          <p:cNvPr id="10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1221~1230 사후(in-sample) 과적합 결과 — 62개 패턴 중 이 구간에서 우연히 잘 맞은 컷일 뿐, 1231회 적중을 보장하지 않습니다(로또는 독립 난수).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과거 10회 상위 패턴 — 회차별 적중 상세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상위 패턴의 1231회 예측번호 + 1221~1230 각 회차에 실제로 맞춘 번호 (회차:번호)</a:t>
            </a:r>
          </a:p>
        </p:txBody>
      </p:sp>
      <p:graphicFrame>
        <p:nvGraphicFramePr>
          <p:cNvPr id="4" name="pht"/>
          <p:cNvGraphicFramePr/>
          <p:nvPr/>
        </p:nvGraphicFramePr>
        <p:xfrm>
          <a:off x="846000" y="1350000"/>
          <a:ext cx="10500000" cy="3420000"/>
        </p:xfrm>
        <a:graphic>
          <a:graphicData uri="http://schemas.openxmlformats.org/drawingml/2006/table">
            <a:tbl>
              <a:tblPr firstRow="1" bandRow="1"/>
              <a:tblGrid>
                <a:gridCol w="2400000"/>
                <a:gridCol w="1700000"/>
                <a:gridCol w="64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1231예측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 회차:번호 (회당)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4, 9, 19, 36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(6회)  1223:16   1224:9,45   1225:19,25   1226:4   1227:16   1230:9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10, 11, 13, 22, 39, 45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(6회)  1223:33   1224:9,45   1225:9   1226:6,13   1227:44   1229:29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|d4-d1|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1222:22   1223:18   1226:17   1230:22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인접차 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1, 5, 6, 13, 14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1221:6   1225:9   1226:6   1230:3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1221:36   1225:8   1226:4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d2+d3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1226:28   1228:30   1230:42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d2+d6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1222:4   1226:6   1227:34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|d6-d4|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1226:17   1229:13   1230:8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298000"/>
            <a:ext cx="11392000" cy="4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1221~1230 사후 실측 — 과거 적중일 뿐 미래 적중 보장 아님(로또는 독립 난수).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1231회 ◎ 반복임계 스윕 — 과거 10회 적중률 백테스트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◎ 기준 = 다음간격이 과거 N회 이상 반복. N을 4~7로 바꿔 1221~1230 각 회차를 직전 195회 창으로 예측 → ◎ 번호가 실제 당첨에 든 비율(번호 기준). 무작위 기대 13.3%</a:t>
            </a:r>
          </a:p>
        </p:txBody>
      </p:sp>
      <p:graphicFrame>
        <p:nvGraphicFramePr>
          <p:cNvPr id="4" name="gct"/>
          <p:cNvGraphicFramePr/>
          <p:nvPr/>
        </p:nvGraphicFramePr>
        <p:xfrm>
          <a:off x="1596000" y="1380000"/>
          <a:ext cx="9000000" cy="1900000"/>
        </p:xfrm>
        <a:graphic>
          <a:graphicData uri="http://schemas.openxmlformats.org/drawingml/2006/table">
            <a:tbl>
              <a:tblPr firstRow="1" bandRow="1"/>
              <a:tblGrid>
                <a:gridCol w="1400000"/>
                <a:gridCol w="1700000"/>
                <a:gridCol w="1100000"/>
                <a:gridCol w="1700000"/>
                <a:gridCol w="31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반복 N회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 총수(분모)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적중률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1231회 ◎ 예측번호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74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18.9%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7, 10, 21, 23, 38, 39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19.0%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24.0%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C00000"/>
                          </a:solidFill>
                        </a:rPr>
                        <a:t>27.3%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msg"/>
          <p:cNvSpPr txBox="1"/>
          <p:nvPr/>
        </p:nvSpPr>
        <p:spPr>
          <a:xfrm>
            <a:off x="1596000" y="3530000"/>
            <a:ext cx="9000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50" b="1">
                <a:solidFill>
                  <a:srgbClr val="1F3864"/>
                </a:solidFill>
              </a:rPr>
              <a:t>▶ 분모 5건 이상 중 최고 적중률: N=7회 (3/11 = 27.3%)  ·  1231회 해당 ◎ 예측번호: -</a:t>
            </a:r>
          </a:p>
        </p:txBody>
      </p:sp>
      <p:sp>
        <p:nvSpPr>
          <p:cNvPr id="6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n=10 사후(in-sample) 스윕 — 4개 중 '최고'를 고르는 건 다중비교 과적합이고, 분모가 작은 컷오프의 높은 %는 우연입니다. 1231회 적중을 보장하지 않습니다(로또는 독립 난수).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◎ 반복임계 — 회차별 ◎번호·반복수·적중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1221~1230 각 회차의 ◎번호(반복수≥4)와 실제 당첨된 번호(빨강). 반복수가 N이면 컷오프 N까지의 ◎에 포함됩니다.</a:t>
            </a:r>
          </a:p>
        </p:txBody>
      </p:sp>
      <p:graphicFrame>
        <p:nvGraphicFramePr>
          <p:cNvPr id="4" name="ght"/>
          <p:cNvGraphicFramePr/>
          <p:nvPr/>
        </p:nvGraphicFramePr>
        <p:xfrm>
          <a:off x="796000" y="1320000"/>
          <a:ext cx="10600000" cy="3600000"/>
        </p:xfrm>
        <a:graphic>
          <a:graphicData uri="http://schemas.openxmlformats.org/drawingml/2006/table">
            <a:tbl>
              <a:tblPr firstRow="1" bandRow="1"/>
              <a:tblGrid>
                <a:gridCol w="1300000"/>
                <a:gridCol w="7600000"/>
                <a:gridCol w="1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◎번호 : 반복수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C00000"/>
                          </a:solidFill>
                        </a:rPr>
                        <a:t>1231 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23:6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38:4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39:4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1F3864"/>
                          </a:solidFill>
                        </a:rPr>
                        <a:t>(예측)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17:9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13, 18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9:10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45:6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9, 18, 45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33:4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28:5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38:5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6, 17, 28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14, 44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42:4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22, 42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반복수 N = 그 다음간격이 과거 N회 반복. N=4·5·6·7 컷오프 포함 여부가 갈립니다. 1221~1230 사후 실측 — 미래 적중 보장 아님.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