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400" b="1">
                <a:solidFill>
                  <a:srgbClr val="1F3864"/>
                </a:solidFill>
              </a:rPr>
              <a:t>1237회차 로또 패턴 분석 리포트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2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기준 1236회 · 학습창 200주 · 분석기 가중치 = 효과크기 z (소표본 보정)</a:t>
            </a:r>
          </a:p>
        </p:txBody>
      </p:sp>
      <p:sp>
        <p:nvSpPr>
          <p:cNvPr id="4" name="zt"/>
          <p:cNvSpPr txBox="1"/>
          <p:nvPr/>
        </p:nvSpPr>
        <p:spPr>
          <a:xfrm>
            <a:off x="400000" y="1300000"/>
            <a:ext cx="580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400" b="1">
                <a:solidFill>
                  <a:srgbClr val="C00000"/>
                </a:solidFill>
              </a:rPr>
              <a:t>패턴별 효과크기(z·가중치) 순위</a:t>
            </a:r>
          </a:p>
        </p:txBody>
      </p:sp>
      <p:graphicFrame>
        <p:nvGraphicFramePr>
          <p:cNvPr id="5" name="ztbl"/>
          <p:cNvGraphicFramePr/>
          <p:nvPr/>
        </p:nvGraphicFramePr>
        <p:xfrm>
          <a:off x="400000" y="1660000"/>
          <a:ext cx="5500000" cy="4900000"/>
        </p:xfrm>
        <a:graphic>
          <a:graphicData uri="http://schemas.openxmlformats.org/drawingml/2006/table">
            <a:tbl>
              <a:tblPr firstRow="1" bandRow="1"/>
              <a:tblGrid>
                <a:gridCol w="620000"/>
                <a:gridCol w="1500000"/>
                <a:gridCol w="760000"/>
                <a:gridCol w="820000"/>
                <a:gridCol w="1100000"/>
                <a:gridCol w="700000"/>
              </a:tblGrid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z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정확도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적중/예측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반영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출현주기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+1.30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16.00%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44/275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연승패턴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+1.17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17.65%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15/85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장기미출현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+0.88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17.78%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8/45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연번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+0.56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14.79%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25/169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미출현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14.23%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38/267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대각선(주기)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14.81%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8/54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멸구간(주기)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13.63%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71/521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궁합수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+0.03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13.40%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28/209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누적빈도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70/525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끝수통계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AC패턴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번호대빈도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3의배수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30/225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이웃수(주기)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-0.04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13.04%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3/23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소수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12.86%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27/210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-0.49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12.09%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22/182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홀짝균형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-0.60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12.05%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30/249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-0.65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10.61%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7/66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최근강세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-0.68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12.12%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44/363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끝수이월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-1.06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11.32%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36/318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오프셋(주기)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-1.10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5.00%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1/20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이월수(주기)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-1.37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5.56%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2/36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5의배수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-1.52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8.89%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12/135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dt"/>
          <p:cNvSpPr txBox="1"/>
          <p:nvPr/>
        </p:nvSpPr>
        <p:spPr>
          <a:xfrm>
            <a:off x="6700000" y="1300000"/>
            <a:ext cx="500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400" b="1">
                <a:solidFill>
                  <a:srgbClr val="C00000"/>
                </a:solidFill>
              </a:rPr>
              <a:t>추천 순위그룹별 당첨 분포 (최근 200주)</a:t>
            </a:r>
          </a:p>
        </p:txBody>
      </p:sp>
      <p:graphicFrame>
        <p:nvGraphicFramePr>
          <p:cNvPr id="7" name="dtbl"/>
          <p:cNvGraphicFramePr/>
          <p:nvPr/>
        </p:nvGraphicFramePr>
        <p:xfrm>
          <a:off x="6700000" y="1660000"/>
          <a:ext cx="3700000" cy="3000000"/>
        </p:xfrm>
        <a:graphic>
          <a:graphicData uri="http://schemas.openxmlformats.org/drawingml/2006/table">
            <a:tbl>
              <a:tblPr firstRow="1" bandRow="1"/>
              <a:tblGrid>
                <a:gridCol w="1500000"/>
                <a:gridCol w="1100000"/>
                <a:gridCol w="11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 그룹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당첨 횟수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비율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1-5위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146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12.17%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6-10위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148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12.33%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11-15위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11.17%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16-20위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148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12.33%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21-25위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10.67%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26-30위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11.25%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31-35위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10.67%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36-40위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10.50%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41-45위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8.92%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summary"/>
          <p:cNvSpPr txBox="1"/>
          <p:nvPr/>
        </p:nvSpPr>
        <p:spPr>
          <a:xfrm>
            <a:off x="6700000" y="4910000"/>
            <a:ext cx="5000000" cy="1600000"/>
          </a:xfrm>
          <a:prstGeom prst="rect">
            <a:avLst/>
          </a:prstGeom>
        </p:spPr>
        <p:txBody>
          <a:bodyPr wrap="square"/>
          <a:lstStyle/>
          <a:p>
            <a:br/>
            <a:r>
              <a:rPr lang="ko-KR" sz="1000" b="0">
                <a:solidFill>
                  <a:srgbClr val="A6A6A6"/>
                </a:solidFill>
              </a:rPr>
              <a:t>※ 로또는 독립 난수 — 본 리포트는 통계적 참고용이며 적중을 보장하지 않습니다.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(1/3)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노랑 음영 = 자동 추천 5게임에 포함된 번호</a:t>
            </a:r>
          </a:p>
        </p:txBody>
      </p:sp>
      <p:graphicFrame>
        <p:nvGraphicFramePr>
          <p:cNvPr id="4" name="rk0"/>
          <p:cNvGraphicFramePr/>
          <p:nvPr/>
        </p:nvGraphicFramePr>
        <p:xfrm>
          <a:off x="836000" y="130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3.64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3.58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오프셋(주기), 미출현,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합계균형, 주기300,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3.57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오프셋(주기), 미출현,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오프셋(주기), 3의배수,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오프셋(주기), 3의배수,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2.86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2.95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(2/3)</a:t>
            </a:r>
          </a:p>
        </p:txBody>
      </p:sp>
      <p:graphicFrame>
        <p:nvGraphicFramePr>
          <p:cNvPr id="3" name="rk1"/>
          <p:cNvGraphicFramePr/>
          <p:nvPr/>
        </p:nvGraphicFramePr>
        <p:xfrm>
          <a:off x="836000" y="82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2.02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오프셋(주기), 합계균형,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1.92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1.77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1.95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1.76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1.73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1.63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1.66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0.97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0.96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0.86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(3/3)</a:t>
            </a:r>
          </a:p>
        </p:txBody>
      </p:sp>
      <p:graphicFrame>
        <p:nvGraphicFramePr>
          <p:cNvPr id="3" name="rk2"/>
          <p:cNvGraphicFramePr/>
          <p:nvPr/>
        </p:nvGraphicFramePr>
        <p:xfrm>
          <a:off x="836000" y="82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0.59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0.81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0.49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1237회차 자동 추천 5게임 · 로또 용지 표기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2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로또 용지(7열×7행) · 빨강 = 선택 번호 · 세로열 최대 2개</a:t>
            </a:r>
          </a:p>
        </p:txBody>
      </p:sp>
      <p:sp>
        <p:nvSpPr>
          <p:cNvPr id="4" name="lblA"/>
          <p:cNvSpPr txBox="1"/>
          <p:nvPr/>
        </p:nvSpPr>
        <p:spPr>
          <a:xfrm>
            <a:off x="400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A 게임</a:t>
            </a:r>
          </a:p>
        </p:txBody>
      </p:sp>
      <p:graphicFrame>
        <p:nvGraphicFramePr>
          <p:cNvPr id="5" name="gridA"/>
          <p:cNvGraphicFramePr/>
          <p:nvPr/>
        </p:nvGraphicFramePr>
        <p:xfrm>
          <a:off x="400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6" name="numA"/>
          <p:cNvSpPr txBox="1"/>
          <p:nvPr/>
        </p:nvSpPr>
        <p:spPr>
          <a:xfrm>
            <a:off x="400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03 19 20 32 33 44</a:t>
            </a:r>
          </a:p>
        </p:txBody>
      </p:sp>
      <p:sp>
        <p:nvSpPr>
          <p:cNvPr id="7" name="metaA"/>
          <p:cNvSpPr txBox="1"/>
          <p:nvPr/>
        </p:nvSpPr>
        <p:spPr>
          <a:xfrm>
            <a:off x="400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151 · 홀3:짝3</a:t>
            </a:r>
          </a:p>
        </p:txBody>
      </p:sp>
      <p:sp>
        <p:nvSpPr>
          <p:cNvPr id="8" name="lblB"/>
          <p:cNvSpPr txBox="1"/>
          <p:nvPr/>
        </p:nvSpPr>
        <p:spPr>
          <a:xfrm>
            <a:off x="2723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B 게임</a:t>
            </a:r>
          </a:p>
        </p:txBody>
      </p:sp>
      <p:graphicFrame>
        <p:nvGraphicFramePr>
          <p:cNvPr id="9" name="gridB"/>
          <p:cNvGraphicFramePr/>
          <p:nvPr/>
        </p:nvGraphicFramePr>
        <p:xfrm>
          <a:off x="2723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0" name="numB"/>
          <p:cNvSpPr txBox="1"/>
          <p:nvPr/>
        </p:nvSpPr>
        <p:spPr>
          <a:xfrm>
            <a:off x="2723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03 15 19 20 33 44</a:t>
            </a:r>
          </a:p>
        </p:txBody>
      </p:sp>
      <p:sp>
        <p:nvSpPr>
          <p:cNvPr id="11" name="metaB"/>
          <p:cNvSpPr txBox="1"/>
          <p:nvPr/>
        </p:nvSpPr>
        <p:spPr>
          <a:xfrm>
            <a:off x="2723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134 · 홀4:짝2</a:t>
            </a:r>
          </a:p>
        </p:txBody>
      </p:sp>
      <p:sp>
        <p:nvSpPr>
          <p:cNvPr id="12" name="lblC"/>
          <p:cNvSpPr txBox="1"/>
          <p:nvPr/>
        </p:nvSpPr>
        <p:spPr>
          <a:xfrm>
            <a:off x="5046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C 게임</a:t>
            </a:r>
          </a:p>
        </p:txBody>
      </p:sp>
      <p:graphicFrame>
        <p:nvGraphicFramePr>
          <p:cNvPr id="13" name="gridC"/>
          <p:cNvGraphicFramePr/>
          <p:nvPr/>
        </p:nvGraphicFramePr>
        <p:xfrm>
          <a:off x="5046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4" name="numC"/>
          <p:cNvSpPr txBox="1"/>
          <p:nvPr/>
        </p:nvSpPr>
        <p:spPr>
          <a:xfrm>
            <a:off x="5046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03 19 20 33 42 44</a:t>
            </a:r>
          </a:p>
        </p:txBody>
      </p:sp>
      <p:sp>
        <p:nvSpPr>
          <p:cNvPr id="15" name="metaC"/>
          <p:cNvSpPr txBox="1"/>
          <p:nvPr/>
        </p:nvSpPr>
        <p:spPr>
          <a:xfrm>
            <a:off x="5046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161 · 홀3:짝3</a:t>
            </a:r>
          </a:p>
        </p:txBody>
      </p:sp>
      <p:sp>
        <p:nvSpPr>
          <p:cNvPr id="16" name="lblD"/>
          <p:cNvSpPr txBox="1"/>
          <p:nvPr/>
        </p:nvSpPr>
        <p:spPr>
          <a:xfrm>
            <a:off x="7369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D 게임</a:t>
            </a:r>
          </a:p>
        </p:txBody>
      </p:sp>
      <p:graphicFrame>
        <p:nvGraphicFramePr>
          <p:cNvPr id="17" name="gridD"/>
          <p:cNvGraphicFramePr/>
          <p:nvPr/>
        </p:nvGraphicFramePr>
        <p:xfrm>
          <a:off x="7369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8" name="numD"/>
          <p:cNvSpPr txBox="1"/>
          <p:nvPr/>
        </p:nvSpPr>
        <p:spPr>
          <a:xfrm>
            <a:off x="7369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03 19 20 33 44 45</a:t>
            </a:r>
          </a:p>
        </p:txBody>
      </p:sp>
      <p:sp>
        <p:nvSpPr>
          <p:cNvPr id="19" name="metaD"/>
          <p:cNvSpPr txBox="1"/>
          <p:nvPr/>
        </p:nvSpPr>
        <p:spPr>
          <a:xfrm>
            <a:off x="7369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164 · 홀4:짝2</a:t>
            </a:r>
          </a:p>
        </p:txBody>
      </p:sp>
      <p:sp>
        <p:nvSpPr>
          <p:cNvPr id="20" name="lblE"/>
          <p:cNvSpPr txBox="1"/>
          <p:nvPr/>
        </p:nvSpPr>
        <p:spPr>
          <a:xfrm>
            <a:off x="9692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E 게임</a:t>
            </a:r>
          </a:p>
        </p:txBody>
      </p:sp>
      <p:graphicFrame>
        <p:nvGraphicFramePr>
          <p:cNvPr id="21" name="gridE"/>
          <p:cNvGraphicFramePr/>
          <p:nvPr/>
        </p:nvGraphicFramePr>
        <p:xfrm>
          <a:off x="9692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22" name="numE"/>
          <p:cNvSpPr txBox="1"/>
          <p:nvPr/>
        </p:nvSpPr>
        <p:spPr>
          <a:xfrm>
            <a:off x="9692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03 13 19 20 33 44</a:t>
            </a:r>
          </a:p>
        </p:txBody>
      </p:sp>
      <p:sp>
        <p:nvSpPr>
          <p:cNvPr id="23" name="metaE"/>
          <p:cNvSpPr txBox="1"/>
          <p:nvPr/>
        </p:nvSpPr>
        <p:spPr>
          <a:xfrm>
            <a:off x="9692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132 · 홀4:짝2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195회 · 1042~1236회)  (1/3)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74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808080"/>
                </a:solidFill>
              </a:rPr>
              <a:t>적중 = 그 순위 추천번호가 당첨이었던 횟수  ·  간격(차이수) 형식: 차이(전회차→후회차)  ·  다음간격 = 1237회 − 마지막 재출현회차  ·  ◎ = 다음간격이 과거 5회 이상 재출현(반복) / − = 아님</a:t>
            </a:r>
          </a:p>
        </p:txBody>
      </p:sp>
      <p:sp>
        <p:nvSpPr>
          <p:cNvPr id="4" name="banner"/>
          <p:cNvSpPr txBox="1"/>
          <p:nvPr/>
        </p:nvSpPr>
        <p:spPr>
          <a:xfrm>
            <a:off x="400000" y="1170000"/>
            <a:ext cx="11392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1">
                <a:solidFill>
                  <a:srgbClr val="C00000"/>
                </a:solidFill>
              </a:rPr>
              <a:t>◎ 1237회 재출현 유력 번호 (6개, 다음간격 과거 5회↑ 반복): 19, 15, 44, 16, 18, 24</a:t>
            </a:r>
          </a:p>
        </p:txBody>
      </p:sp>
      <p:graphicFrame>
        <p:nvGraphicFramePr>
          <p:cNvPr id="5" name="rh0"/>
          <p:cNvGraphicFramePr/>
          <p:nvPr/>
        </p:nvGraphicFramePr>
        <p:xfrm>
          <a:off x="486000" y="174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12(1048→1060)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5(1060→1065)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7(1065→1072)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2(1072→1074)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14(1074→1088)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8(1088→1096)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2(1096→1098)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4(1098→1102)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7(1102→1109)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4(1109→1113)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5(1113→1118)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7(1118→1125)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10(1125→1135)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2(1135→1137)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2(1137→1139)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4(1139→1143)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30(1143→1173)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15(1173→1188)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13(1188→1201)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6(1201→1207)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14(1207→1221)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3(1221→1224)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9(1047→1056)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5(1056→1061)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15(1061→1076)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6(1076→1082)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19(1082→1101)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20(1101→1121)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3(1121→1124)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3(1124→1127)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4(1127→1131)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3(1131→1134)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26(1134→1160)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4(1160→1164)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2(1164→1166)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26(1166→1192)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7(1192→1199)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2(1199→1201)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6(1201→1207)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8(1207→1215)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9(1215→1224)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4(1224→1228)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2(1228→1230)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2(1230→1232)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14(1045→1059)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1(1059→1060)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23(1060→1083)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6(1083→1089)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3(1089→1092)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6(1092→1098)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17(1098→1115)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7(1115→1122)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8(1122→1130)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21(1130→1151)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10(1151→1161)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1(1161→1162)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1(1162→1163)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2(1163→1165)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13(1165→1178)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2(1179→1181)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1(1181→1182)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1(1182→1183)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10(1183→1193)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1(1193→1194)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1(1194→1195)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1(1195→1196)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20(1196→1216)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1(1216→1217)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6(1217→1223)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1(1223→1224)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30(1052→1082)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6(1082→1088)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1(1088→1089)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1(1089→1090)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4(1090→1094)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18(1094→1112)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39(1112→1151)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6(1151→1157)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11(1157→1168)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11(1168→1179)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1(1179→1180)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2(1180→1182)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1(1182→1183)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10(1183→1193)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3(1193→1196)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5(1196→1201)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2(1201→1203)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15(1203→1218)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1(1218→1219)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3(1219→1222)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3(1222→1225)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11(1225→1236)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3(1043→1046)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23(1046→1069)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2(1069→1071)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8(1071→1079)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7(1079→1086)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5(1086→1091)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1(1091→1092)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1(1092→1093)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13(1093→1106)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3(1106→1109)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9(1109→1118)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8(1118→1126)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7(1126→1133)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6(1133→1139)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6(1139→1145)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4(1145→1149)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1(1149→1150)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2(1150→1152)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6(1152→1158)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7(1158→1165)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9(1165→1174)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14(1174→1188)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6(1188→1194)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5(1194→1199)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11(1199→1210)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4(1210→1214)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12(1214→1226)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2(1226→1228)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4(1051→1055)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28(1055→1083)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2(1083→1085)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7(1085→1092)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2(1092→1094)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3(1094→1097)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8(1097→1105)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2(1105→1107)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9(1107→1116)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18(1116→1134)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1(1134→1135)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6(1135→1141)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3(1141→1144)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15(1144→1159)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3(1159→1162)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2(1162→1164)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1(1164→1165)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2(1165→1167)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1(1167→1168)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12(1168→1180)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6(1180→1186)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16(1186→1202)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16(1202→1218)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7(1218→1225)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7(1225→1232)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1(1232→1233)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2(1233→1235)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6(1048→1054)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10(1054→1064)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18(1064→1082)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2(1082→1084)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15(1084→1099)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5(1099→1104)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2(1104→1106)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10(1106→1116)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1(1116→1117)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15(1117→1132)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1(1132→1133)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1(1133→1134)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1(1134→1135)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2(1135→1137)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3(1137→1140)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17(1140→1157)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12(1157→1169)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7(1169→1176)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1(1176→1177)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6(1177→1183)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9(1183→1192)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2(1192→1194)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6(1194→1200)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2(1200→1202)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1(1202→1203)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3(1203→1206)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3(1206→1209)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11(1209→1220)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1(1220→1221)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14(1221→1235)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8(1042→1050)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4(1050→1054)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1(1054→1055)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6(1055→1061)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3(1061→1064)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3(1064→1067)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8(1067→1075)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4(1075→1079)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1(1079→1080)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1(1080→1081)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3(1081→1084)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7(1084→1091)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10(1091→1101)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3(1101→1104)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12(1104→1116)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1(1116→1117)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5(1117→1122)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15(1122→1137)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10(1137→1147)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11(1147→1158)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8(1158→1166)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38(1166→1204)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1(1204→1205)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5(1205→1210)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10(1210→1220)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7(1220→1227)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1(1227→1228)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2(1228→1230)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4(1042→1046)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7(1046→1053)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7(1053→1060)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6(1060→1066)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1(1066→1067)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3(1067→1070)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7(1070→1077)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7(1077→1084)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6(1084→1090)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10(1090→1100)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12(1100→1112)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12(1112→1124)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4(1124→1128)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43(1128→1171)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1(1171→1172)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5(1172→1177)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20(1177→1197)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15(1197→1212)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16(1212→1228)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3(1228→1231)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7(1051→1058)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3(1058→1061)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7(1061→1068)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8(1068→1076)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19(1076→1095)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6(1095→1101)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7(1101→1108)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2(1108→1110)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9(1110→1119)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1(1119→1120)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11(1120→1131)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10(1131→1141)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8(1141→1149)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2(1149→1151)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2(1151→1153)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4(1153→1157)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2(1157→1159)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3(1159→1162)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11(1162→1173)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15(1173→1188)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3(1188→1191)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2(1191→1193)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6(1193→1199)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8(1199→1207)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4(1207→1211)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3(1211→1214)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5(1214→1219)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1(1044→1045)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5(1045→1050)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28(1050→1078)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2(1078→1080)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12(1080→1092)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9(1092→1101)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2(1101→1103)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1(1103→1104)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1(1104→1105)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23(1105→1128)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2(1128→1130)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6(1130→1136)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6(1136→1142)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5(1142→1147)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13(1147→1160)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2(1160→1162)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8(1162→1170)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10(1170→1180)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3(1180→1183)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15(1183→1198)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3(1198→1201)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8(1201→1209)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3(1209→1212)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3(1212→1215)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6(1215→1221)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3(1221→1224)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9(1224→1233)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15(1049→1064)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9(1064→1073)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7(1073→1080)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1(1080→1081)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10(1081→1091)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5(1091→1096)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1(1096→1097)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6(1097→1103)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11(1103→1114)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8(1114→1122)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3(1122→1125)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22(1125→1147)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1(1147→1148)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8(1148→1156)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2(1156→1158)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9(1158→1167)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6(1167→1173)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16(1173→1189)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7(1189→1196)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13(1196→1209)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4(1209→1213)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2(1213→1215)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17(1215→1232)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7(1047→1054)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2(1054→1056)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7(1056→1063)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10(1063→1073)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2(1073→1075)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4(1075→1079)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8(1079→1087)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3(1087→1090)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5(1090→1095)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5(1095→1100)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1(1100→1101)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9(1101→1110)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1(1110→1111)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8(1111→1119)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7(1119→1126)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2(1126→1128)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15(1128→1143)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7(1143→1150)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2(1150→1152)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7(1152→1159)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15(1159→1174)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2(1174→1176)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4(1176→1180)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12(1180→1192)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6(1192→1198)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10(1198→1208)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2(1208→1210)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6(1210→1216)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1(1216→1217)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2(1217→1219)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2(1219→1221)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11(1221→1232)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6(1044→1050)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3(1050→1053)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1(1053→1054)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11(1054→1065)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5(1065→1070)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1(1070→1071)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12(1071→1083)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3(1083→1086)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2(1086→1088)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2(1088→1090)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17(1090→1107)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2(1107→1109)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8(1109→1117)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2(1117→1119)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27(1119→1146)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1(1146→1147)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22(1147→1169)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12(1169→1181)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7(1181→1188)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1(1188→1189)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2(1189→1191)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9(1191→1200)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5(1200→1205)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9(1205→1214)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15(1214→1229)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1(1045→1046)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1(1046→1047)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1(1047→1048)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16(1048→1064)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1(1064→1065)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6(1065→1071)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5(1071→1076)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2(1076→1078)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15(1078→1093)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18(1093→1111)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5(1111→1116)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11(1116→1127)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7(1127→1134)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15(1134→1149)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6(1149→1155)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1(1155→1156)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12(1156→1168)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3(1168→1171)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2(1171→1173)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22(1173→1195)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18(1195→1213)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3(1218→1221)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5(1221→1226)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10(1226→1236)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195회 · 1042~1236회)  (2/3)</a:t>
            </a:r>
          </a:p>
        </p:txBody>
      </p:sp>
      <p:graphicFrame>
        <p:nvGraphicFramePr>
          <p:cNvPr id="3" name="rh1"/>
          <p:cNvGraphicFramePr/>
          <p:nvPr/>
        </p:nvGraphicFramePr>
        <p:xfrm>
          <a:off x="486000" y="82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9(1044→1053)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3(1053→1056)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36(1056→1092)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12(1092→1104)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2(1104→1106)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1(1106→1107)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3(1107→1110)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1(1110→1111)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1(1111→1112)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14(1112→1126)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5(1126→1131)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5(1131→1136)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1(1136→1137)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4(1137→1141)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10(1141→1151)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17(1151→1168)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3(1168→1171)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1(1171→1172)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5(1172→1177)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7(1177→1184)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1(1184→1185)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6(1185→1191)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5(1191→1196)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1(1196→1197)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5(1197→1202)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1(1202→1203)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1(1203→1204)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15(1204→1219)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17(1219→1236)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1(1047→1048)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11(1048→1059)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15(1059→1074)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31(1074→1105)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9(1105→1114)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6(1114→1120)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1(1120→1121)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6(1121→1127)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9(1127→1136)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3(1136→1139)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4(1139→1143)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1(1143→1144)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1(1144→1145)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3(1145→1148)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2(1148→1150)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5(1150→1155)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23(1155→1178)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5(1178→1183)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7(1183→1190)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10(1190→1200)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1(1200→1201)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5(1201→1206)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5(1206→1211)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1(1211→1212)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2(1212→1214)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21(1214→1235)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7(1050→1057)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1(1057→1058)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5(1058→1063)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8(1063→1071)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5(1071→1076)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4(1076→1080)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19(1080→1099)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22(1099→1121)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9(1121→1130)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20(1130→1150)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2(1150→1152)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3(1152→1155)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1(1155→1156)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4(1156→1160)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10(1160→1170)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5(1170→1175)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4(1175→1179)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4(1179→1183)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6(1183→1189)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9(1189→1198)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2(1198→1200)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3(1200→1203)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5(1203→1208)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14(1208→1222)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8(1222→1230)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4(1230→1234)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2(1234→1236)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4(1050→1054)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8(1054→1062)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2(1062→1064)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2(1064→1066)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7(1066→1073)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5(1073→1078)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3(1078→1081)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6(1081→1087)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4(1087→1091)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7(1091→1098)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17(1098→1115)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6(1115→1121)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15(1121→1136)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2(1136→1138)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1(1138→1139)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5(1139→1144)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14(1144→1158)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7(1158→1165)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3(1165→1168)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14(1168→1182)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6(1182→1188)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5(1188→1193)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1(1193→1194)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1(1194→1195)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2(1195→1197)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1(1197→1198)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1(1198→1199)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17(1199→1216)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18(1216→1234)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2(1047→1049)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2(1049→1051)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10(1051→1061)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2(1061→1063)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7(1063→1070)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8(1070→1078)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2(1078→1080)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9(1080→1089)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19(1089→1108)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10(1108→1118)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11(1118→1129)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1(1129→1130)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1(1130→1131)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8(1131→1139)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5(1139→1144)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4(1144→1148)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4(1148→1152)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8(1152→1160)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3(1160→1163)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8(1163→1171)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10(1171→1181)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11(1181→1192)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23(1192→1215)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8(1215→1223)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2(1223→1225)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2(1225→1227)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4(1045→1049)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8(1049→1057)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15(1057→1072)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5(1072→1077)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5(1077→1082)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3(1082→1085)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4(1085→1089)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5(1089→1094)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1(1094→1095)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1(1095→1096)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7(1096→1103)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2(1103→1105)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19(1105→1124)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1(1124→1125)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2(1125→1127)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10(1127→1137)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3(1137→1140)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2(1140→1142)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4(1142→1146)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2(1146→1148)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2(1148→1150)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3(1150→1153)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2(1153→1155)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4(1155→1159)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45(1159→1204)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4(1204→1208)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1(1208→1209)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2(1209→1211)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23(1211→1234)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14(1042→1056)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6(1056→1062)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16(1062→1078)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5(1078→1083)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17(1083→1100)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9(1100→1109)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1(1109→1110)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7(1110→1117)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6(1117→1123)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19(1123→1142)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10(1142→1152)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4(1152→1156)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4(1156→1160)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4(1160→1164)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18(1164→1182)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3(1182→1185)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5(1185→1190)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3(1190→1193)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2(1193→1195)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12(1195→1207)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7(1207→1214)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8(1214→1222)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9(1222→1231)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5(1231→1236)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1(1043→1044)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5(1044→1049)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10(1049→1059)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6(1059→1065)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5(1065→1070)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2(1070→1072)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5(1072→1077)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5(1077→1082)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4(1082→1086)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4(1086→1090)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3(1090→1093)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24(1093→1117)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5(1117→1122)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10(1122→1132)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8(1132→1140)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3(1140→1143)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2(1143→1145)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4(1145→1149)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14(1149→1163)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1(1163→1164)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5(1164→1169)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18(1169→1187)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8(1187→1195)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3(1195→1198)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16(1198→1214)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9(1214→1223)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9(1223→1232)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5(1043→1048)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7(1048→1055)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2(1055→1057)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3(1057→1060)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1(1060→1061)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6(1061→1067)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15(1067→1082)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4(1082→1086)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6(1086→1092)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1(1092→1093)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17(1093→1110)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1(1110→1111)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4(1111→1115)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8(1115→1123)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21(1123→1144)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4(1144→1148)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6(1148→1154)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4(1154→1158)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9(1158→1167)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8(1167→1175)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15(1175→1190)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3(1190→1193)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3(1193→1196)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3(1196→1199)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17(1199→1216)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7(1216→1223)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12(1223→1235)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9(1042→1051)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6(1051→1057)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1(1057→1058)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4(1058→1062)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10(1062→1072)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27(1072→1099)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23(1099→1122)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3(1122→1125)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6(1125→1131)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9(1131→1140)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8(1140→1148)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22(1148→1170)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5(1170→1175)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1(1175→1176)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9(1176→1185)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21(1185→1206)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18(1206→1224)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14(1053→1067)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1(1067→1068)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2(1068→1070)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4(1070→1074)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34(1074→1108)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28(1108→1136)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1(1136→1137)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12(1137→1149)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17(1149→1166)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9(1166→1175)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10(1175→1185)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6(1185→1191)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16(1191→1207)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1(1207→1208)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1(1208→1209)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25(1209→1234)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7(1053→1060)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17(1060→1077)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13(1077→1090)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10(1090→1100)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6(1100→1106)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5(1106→1111)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6(1111→1117)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7(1117→1124)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1(1124→1125)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3(1125→1128)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4(1128→1132)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3(1132→1135)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3(1135→1138)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4(1138→1142)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10(1142→1152)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14(1152→1166)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9(1166→1175)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2(1175→1177)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5(1177→1182)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7(1182→1189)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1(1189→1190)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1(1190→1191)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1(1191→1192)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15(1192→1207)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4(1207→1211)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1(1211→1212)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1(1212→1213)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3(1213→1216)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3(1216→1219)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8(1219→1227)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6(1055→1061)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5(1061→1066)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13(1066→1079)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4(1079→1083)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20(1083→1103)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2(1103→1105)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7(1105→1112)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1(1112→1113)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1(1113→1114)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1(1114→1115)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4(1115→1119)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2(1119→1121)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6(1121→1127)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16(1127→1143)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3(1143→1146)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1(1146→1147)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4(1147→1151)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3(1151→1154)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3(1154→1157)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3(1157→1160)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10(1160→1170)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8(1170→1178)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21(1178→1199)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4(1199→1203)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15(1203→1218)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18(1218→1236)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1(1045→1046)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10(1046→1056)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25(1056→1081)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4(1081→1085)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8(1085→1093)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3(1093→1096)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18(1096→1114)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5(1114→1119)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1(1119→1120)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19(1120→1139)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3(1139→1142)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19(1142→1161)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6(1161→1167)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30(1167→1197)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13(1197→1210)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15(1210→1225)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8(1225→1233)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1(1233→1234)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6(1043→1049)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8(1049→1057)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6(1057→1063)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6(1063→1069)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8(1069→1077)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9(1077→1086)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3(1086→1089)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5(1089→1094)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25(1094→1119)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1(1119→1120)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26(1120→1146)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18(1146→1164)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5(1164→1169)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16(1169→1185)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2(1185→1187)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26(1187→1213)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2(1213→1215)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14(1215→1229)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195회 · 1042~1236회)  (3/3)</a:t>
            </a:r>
          </a:p>
        </p:txBody>
      </p:sp>
      <p:graphicFrame>
        <p:nvGraphicFramePr>
          <p:cNvPr id="3" name="rh2"/>
          <p:cNvGraphicFramePr/>
          <p:nvPr/>
        </p:nvGraphicFramePr>
        <p:xfrm>
          <a:off x="486000" y="82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11(1075→1086)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11(1086→1097)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7(1097→1104)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20(1104→1124)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6(1124→1130)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2(1130→1132)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2(1132→1134)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6(1134→1140)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3(1140→1143)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15(1143→1158)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3(1158→1161)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1(1161→1162)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2(1162→1164)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6(1164→1170)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14(1170→1184)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6(1184→1190)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8(1190→1198)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4(1198→1202)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3(1202→1205)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13(1205→1218)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11(1218→1229)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1(1229→1230)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1(1230→1231)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3(1056→1059)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6(1059→1065)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1(1065→1066)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30(1066→1096)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1(1096→1097)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5(1097→1102)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3(1102→1105)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2(1105→1107)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1(1107→1108)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7(1108→1115)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8(1115→1123)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1(1123→1124)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11(1124→1135)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18(1135→1153)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1(1153→1154)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12(1154→1166)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6(1166→1172)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2(1172→1174)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12(1174→1186)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1(1186→1187)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7(1187→1194)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12(1194→1206)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14(1206→1220)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3(1220→1223)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1(1223→1224)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2(1044→1046)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1(1046→1047)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1(1047→1048)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10(1048→1058)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26(1058→1084)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3(1084→1087)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4(1087→1091)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21(1091→1112)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1(1112→1113)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5(1113→1118)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10(1118→1128)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10(1128→1138)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2(1138→1140)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1(1140→1141)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1(1141→1142)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2(1142→1144)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3(1144→1147)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10(1147→1157)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2(1157→1159)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13(1159→1172)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2(1172→1174)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5(1174→1179)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7(1179→1186)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16(1186→1202)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4(1202→1206)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3(1206→1209)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2(1209→1211)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2(1211→1213)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7(1218→1225)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5(1225→1230)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9(1043→1052)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1(1052→1053)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1(1053→1054)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14(1054→1068)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1(1068→1069)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4(1069→1073)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12(1073→1085)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4(1085→1089)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5(1089→1094)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24(1094→1118)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2(1118→1120)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3(1120→1123)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2(1123→1125)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8(1125→1133)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20(1133→1153)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3(1153→1156)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15(1156→1171)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10(1171→1181)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8(1181→1189)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16(1189→1205)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6(1205→1211)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1(1211→1212)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5(1212→1217)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2(1217→1219)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8(1219→1227)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1(1051→1052)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14(1052→1066)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3(1066→1069)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8(1069→1077)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4(1077→1081)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10(1081→1091)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7(1091→1098)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2(1098→1100)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1(1100→1101)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5(1101→1106)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1(1106→1107)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2(1107→1109)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7(1109→1116)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2(1116→1118)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4(1118→1122)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12(1122→1134)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4(1134→1138)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25(1138→1163)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6(1163→1169)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20(1169→1189)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1(1189→1190)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4(1190→1194)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1(1194→1195)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5(1195→1200)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4(1200→1204)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8(1204→1212)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8(1212→1220)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6(1220→1226)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8(1226→1234)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71(1055→1126)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3(1126→1129)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2(1129→1131)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2(1131→1133)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12(1133→1145)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9(1145→1154)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7(1154→1161)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1(1161→1162)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3(1162→1165)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11(1165→1176)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1(1176→1177)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4(1177→1181)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1(1181→1182)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2(1182→1184)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3(1184→1187)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18(1187→1205)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3(1205→1208)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14(1208→1222)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5(1222→1227)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1(1227→1228)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2(1228→1230)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2(1230→1232)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1(1232→1233)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4(1058→1062)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3(1062→1065)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1(1065→1066)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6(1066→1072)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2(1072→1074)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1(1074→1075)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1(1075→1076)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26(1076→1102)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10(1102→1112)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1(1112→1113)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16(1113→1129)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3(1129→1132)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1(1132→1133)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5(1133→1138)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7(1138→1145)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9(1145→1154)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1(1154→1155)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16(1155→1171)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15(1171→1186)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36(1186→1222)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4(1222→1226)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17(1042→1059)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1(1059→1060)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7(1060→1067)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2(1067→1069)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7(1069→1076)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2(1076→1078)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9(1078→1087)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8(1087→1095)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2(1095→1097)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5(1097→1102)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12(1102→1114)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6(1114→1120)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9(1120→1129)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12(1129→1141)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12(1141→1153)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23(1153→1176)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8(1176→1184)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16(1184→1200)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2(1200→1202)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24(1202→1226)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3(1226→1229)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6(1229→1235)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8(1049→1057)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12(1057→1069)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1(1069→1070)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1(1070→1071)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3(1071→1074)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10(1074→1084)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4(1084→1088)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7(1088→1095)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8(1095→1103)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11(1103→1114)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2(1114→1116)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10(1116→1126)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3(1126→1129)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4(1129→1133)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5(1133→1138)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16(1138→1154)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2(1154→1156)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1(1156→1157)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6(1157→1163)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7(1163→1170)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4(1170→1174)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4(1174→1178)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6(1178→1184)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1(1184→1185)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18(1185→1203)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5(1203→1208)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18(1208→1226)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3(1226→1229)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5(1050→1055)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19(1055→1074)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1(1074→1075)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5(1075→1080)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4(1080→1084)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3(1084→1087)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12(1087→1099)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7(1099→1106)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3(1106→1109)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2(1109→1111)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17(1111→1128)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18(1128→1146)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21(1146→1167)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6(1167→1173)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1(1173→1174)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10(1174→1184)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3(1184→1187)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17(1187→1204)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2(1204→1206)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17(1206→1223)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4(1223→1227)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4(1227→1231)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2(1231→1233)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9(1042→1051)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16(1051→1067)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12(1067→1079)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8(1079→1087)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15(1087→1102)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6(1102→1108)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5(1108→1113)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10(1113→1123)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28(1123→1151)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8(1151→1159)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2(1159→1161)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5(1161→1166)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10(1166→1176)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2(1176→1178)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18(1179→1197)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8(1197→1205)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12(1205→1217)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3(1217→1220)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11(1220→1231)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31(1052→1083)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14(1083→1097)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26(1097→1123)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9(1123→1132)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13(1132→1145)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4(1145→1149)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20(1149→1169)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3(1169→1172)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3(1172→1175)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5(1175→1180)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17(1180→1197)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7(1197→1204)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25(1204→1229)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9(1043→1052)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11(1052→1063)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5(1063→1068)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3(1068→1071)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1(1071→1072)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3(1072→1075)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4(1075→1079)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9(1079→1088)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10(1088→1098)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1(1098→1099)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3(1099→1102)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1(1102→1103)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24(1103→1127)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3(1127→1130)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20(1130→1150)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3(1150→1153)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19(1153→1172)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1(1172→1173)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8(1173→1181)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5(1181→1186)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1(1186→1187)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1(1187→1188)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3(1188→1191)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10(1191→1201)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9(1201→1210)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6(1210→1216)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4(1216→1220)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5(1220→1225)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3(1225→1228)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5(1228→1233)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1(1045→1046)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12(1046→1058)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1(1058→1059)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3(1059→1062)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1(1062→1063)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5(1063→1068)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5(1068→1073)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8(1073→1081)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4(1081→1085)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8(1085→1093)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1(1093→1094)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1(1094→1095)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12(1095→1107)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1(1107→1108)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2(1108→1110)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3(1110→1113)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2(1113→1115)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11(1115→1126)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20(1126→1146)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15(1146→1161)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2(1161→1163)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2(1163→1165)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2(1165→1167)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19(1167→1186)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6(1186→1192)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4(1192→1196)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14(1196→1210)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7(1210→1217)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4(1217→1221)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1(1221→1222)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8(1044→1052)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10(1052→1062)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2(1062→1064)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4(1064→1068)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5(1068→1073)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12(1073→1085)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3(1085→1088)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8(1088→1096)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2(1096→1098)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1(1098→1099)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1(1099→1100)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4(1100→1104)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17(1104→1121)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8(1121→1129)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6(1129→1135)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1(1135→1136)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5(1136→1141)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14(1141→1155)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13(1155→1168)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9(1168→1177)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1(1177→1178)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1(1179→1180)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33(1180→1213)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2(1213→1215)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2(1215→1217)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14(1217→1231)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4(1231→1235)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100" b="1">
                <a:solidFill>
                  <a:srgbClr val="1F3864"/>
                </a:solidFill>
              </a:rPr>
              <a:t>1237회 예측 — 과거 10회 최고 적중 패턴 기준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1227~1236 각 회차를 직전 데이터로 예측한 패턴 성적 상위 5개 → 그 패턴들의 1237회 후보 (괄호=여러 패턴이 공통 출력한 번호)</a:t>
            </a:r>
          </a:p>
        </p:txBody>
      </p:sp>
      <p:sp>
        <p:nvSpPr>
          <p:cNvPr id="4" name="h0"/>
          <p:cNvSpPr txBox="1"/>
          <p:nvPr/>
        </p:nvSpPr>
        <p:spPr>
          <a:xfrm>
            <a:off x="400000" y="1300000"/>
            <a:ext cx="555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1">
                <a:solidFill>
                  <a:srgbClr val="C00000"/>
                </a:solidFill>
              </a:rPr>
              <a:t>① 적중회차 비율 기준 (10회 중 ≥1개 적중한 회차 수)</a:t>
            </a:r>
          </a:p>
        </p:txBody>
      </p:sp>
      <p:graphicFrame>
        <p:nvGraphicFramePr>
          <p:cNvPr id="5" name="t0"/>
          <p:cNvGraphicFramePr/>
          <p:nvPr/>
        </p:nvGraphicFramePr>
        <p:xfrm>
          <a:off x="400000" y="1680000"/>
          <a:ext cx="5550000" cy="1800000"/>
        </p:xfrm>
        <a:graphic>
          <a:graphicData uri="http://schemas.openxmlformats.org/drawingml/2006/table">
            <a:tbl>
              <a:tblPr firstRow="1" bandRow="1"/>
              <a:tblGrid>
                <a:gridCol w="500000"/>
                <a:gridCol w="1700000"/>
                <a:gridCol w="900000"/>
                <a:gridCol w="700000"/>
                <a:gridCol w="175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적중회차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lift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1237후보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↘대각합 전체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8/10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1.21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1 2 7 32 35 42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끝수 곱집합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0.91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1 4 16 19 36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d1+d4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d2+d3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d3+d6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p0"/>
          <p:cNvSpPr txBox="1"/>
          <p:nvPr/>
        </p:nvSpPr>
        <p:spPr>
          <a:xfrm>
            <a:off x="400000" y="3700000"/>
            <a:ext cx="5550000" cy="10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50" b="1">
                <a:solidFill>
                  <a:srgbClr val="1F3864"/>
                </a:solidFill>
              </a:rPr>
              <a:t>▶ 상위 패턴 후보 풀: </a:t>
            </a:r>
            <a:r>
              <a:rPr lang="ko-KR" sz="1050" b="0">
                <a:solidFill>
                  <a:srgbClr val="333333"/>
                </a:solidFill>
              </a:rPr>
              <a:t>1(2), 2, 4, 7, 14, 16, 19, 32, 35, 36, 39, 41, 42</a:t>
            </a:r>
          </a:p>
        </p:txBody>
      </p:sp>
      <p:sp>
        <p:nvSpPr>
          <p:cNvPr id="7" name="h1"/>
          <p:cNvSpPr txBox="1"/>
          <p:nvPr/>
        </p:nvSpPr>
        <p:spPr>
          <a:xfrm>
            <a:off x="6300000" y="1300000"/>
            <a:ext cx="555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1">
                <a:solidFill>
                  <a:srgbClr val="C00000"/>
                </a:solidFill>
              </a:rPr>
              <a:t>② lift(효율) 기준 (후보 1개당 적중률, 1.0 = 무작위)</a:t>
            </a:r>
          </a:p>
        </p:txBody>
      </p:sp>
      <p:graphicFrame>
        <p:nvGraphicFramePr>
          <p:cNvPr id="8" name="t1"/>
          <p:cNvGraphicFramePr/>
          <p:nvPr/>
        </p:nvGraphicFramePr>
        <p:xfrm>
          <a:off x="6300000" y="1680000"/>
          <a:ext cx="5550000" cy="1800000"/>
        </p:xfrm>
        <a:graphic>
          <a:graphicData uri="http://schemas.openxmlformats.org/drawingml/2006/table">
            <a:tbl>
              <a:tblPr firstRow="1" bandRow="1"/>
              <a:tblGrid>
                <a:gridCol w="500000"/>
                <a:gridCol w="1700000"/>
                <a:gridCol w="900000"/>
                <a:gridCol w="700000"/>
                <a:gridCol w="175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적중회차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lift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1237후보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d1+d4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d2+d3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d3+d6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위치차 |d6-d4|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델타합 p3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p1"/>
          <p:cNvSpPr txBox="1"/>
          <p:nvPr/>
        </p:nvSpPr>
        <p:spPr>
          <a:xfrm>
            <a:off x="6300000" y="3700000"/>
            <a:ext cx="5550000" cy="10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50" b="1">
                <a:solidFill>
                  <a:srgbClr val="1F3864"/>
                </a:solidFill>
              </a:rPr>
              <a:t>▶ 상위 패턴 후보 풀: </a:t>
            </a:r>
            <a:r>
              <a:rPr lang="ko-KR" sz="1050" b="0">
                <a:solidFill>
                  <a:srgbClr val="333333"/>
                </a:solidFill>
              </a:rPr>
              <a:t>9, 14, 32, 39, 41</a:t>
            </a:r>
          </a:p>
        </p:txBody>
      </p:sp>
      <p:sp>
        <p:nvSpPr>
          <p:cNvPr id="10" name="foot"/>
          <p:cNvSpPr txBox="1"/>
          <p:nvPr/>
        </p:nvSpPr>
        <p:spPr>
          <a:xfrm>
            <a:off x="400000" y="6238000"/>
            <a:ext cx="11392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1227~1236 사후(in-sample) 과적합 결과 — 62개 패턴 중 이 구간에서 우연히 잘 맞은 컷일 뿐, 1237회 적중을 보장하지 않습니다(로또는 독립 난수).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100" b="1">
                <a:solidFill>
                  <a:srgbClr val="1F3864"/>
                </a:solidFill>
              </a:rPr>
              <a:t>과거 10회 상위 패턴 — 회차별 적중 상세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상위 패턴의 1237회 예측번호 + 1227~1236 각 회차에 실제로 맞춘 번호 (회차:번호)</a:t>
            </a:r>
          </a:p>
        </p:txBody>
      </p:sp>
      <p:graphicFrame>
        <p:nvGraphicFramePr>
          <p:cNvPr id="4" name="pht"/>
          <p:cNvGraphicFramePr/>
          <p:nvPr/>
        </p:nvGraphicFramePr>
        <p:xfrm>
          <a:off x="846000" y="1350000"/>
          <a:ext cx="10500000" cy="3040000"/>
        </p:xfrm>
        <a:graphic>
          <a:graphicData uri="http://schemas.openxmlformats.org/drawingml/2006/table">
            <a:tbl>
              <a:tblPr firstRow="1" bandRow="1"/>
              <a:tblGrid>
                <a:gridCol w="2400000"/>
                <a:gridCol w="1700000"/>
                <a:gridCol w="6400000"/>
              </a:tblGrid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1237예측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 회차:번호 (회당)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↘대각합 전체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1, 2, 7, 32, 35, 42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(8회)  1227:44   1229:29   1231:13   1232:12   1233:7   1234:43   1235:7,43   1236:34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끝수 곱집합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1, 4, 16, 19, 36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(5회)  1227:16   1230:9   1231:4   1232:19   1233:25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위치합 d1+d4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1228:35   1232:22   1236:21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위치합 d2+d3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1228:30   1230:42   1236:18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위치합 d3+d6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1227:41   1229:29   1234:15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위치차 |d6-d4|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1229:13   1230:8   1234:15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델타합 p3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1228:29   1231:38   1235:39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foot"/>
          <p:cNvSpPr txBox="1"/>
          <p:nvPr/>
        </p:nvSpPr>
        <p:spPr>
          <a:xfrm>
            <a:off x="400000" y="6298000"/>
            <a:ext cx="11392000" cy="4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1227~1236 사후 실측 — 과거 적중일 뿐 미래 적중 보장 아님(로또는 독립 난수).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1237회 ◎ 반복임계 스윕 — 과거 10회 적중률 백테스트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3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◎ 기준 = 다음간격이 과거 N회 이상 반복. N을 4~7로 바꿔 1227~1236 각 회차를 직전 195회 창으로 예측 → ◎ 번호가 실제 당첨에 든 비율(번호 기준). 무작위 기대 13.3%</a:t>
            </a:r>
          </a:p>
        </p:txBody>
      </p:sp>
      <p:graphicFrame>
        <p:nvGraphicFramePr>
          <p:cNvPr id="4" name="gct"/>
          <p:cNvGraphicFramePr/>
          <p:nvPr/>
        </p:nvGraphicFramePr>
        <p:xfrm>
          <a:off x="1596000" y="1380000"/>
          <a:ext cx="9000000" cy="1900000"/>
        </p:xfrm>
        <a:graphic>
          <a:graphicData uri="http://schemas.openxmlformats.org/drawingml/2006/table">
            <a:tbl>
              <a:tblPr firstRow="1" bandRow="1"/>
              <a:tblGrid>
                <a:gridCol w="1400000"/>
                <a:gridCol w="1700000"/>
                <a:gridCol w="1100000"/>
                <a:gridCol w="1700000"/>
                <a:gridCol w="3100000"/>
              </a:tblGrid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반복 N회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◎ 총수(분모)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적중률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1237회 ◎ 예측번호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4회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66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C00000"/>
                          </a:solidFill>
                        </a:rPr>
                        <a:t>15.2%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3, 19, 20, 33, 39, 43, 44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7.9%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3, 19, 20, 33, 44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6회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5.0%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3, 19, 33, 44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7회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12.5%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19, 33, 44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msg"/>
          <p:cNvSpPr txBox="1"/>
          <p:nvPr/>
        </p:nvSpPr>
        <p:spPr>
          <a:xfrm>
            <a:off x="1596000" y="3530000"/>
            <a:ext cx="9000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50" b="1">
                <a:solidFill>
                  <a:srgbClr val="1F3864"/>
                </a:solidFill>
              </a:rPr>
              <a:t>▶ 분모 5건 이상 중 최고 적중률: N=4회 (10/66 = 15.2%)  ·  1237회 해당 ◎ 예측번호: 3, 19, 20, 33, 39, 43, 44</a:t>
            </a:r>
          </a:p>
        </p:txBody>
      </p:sp>
      <p:sp>
        <p:nvSpPr>
          <p:cNvPr id="6" name="foot"/>
          <p:cNvSpPr txBox="1"/>
          <p:nvPr/>
        </p:nvSpPr>
        <p:spPr>
          <a:xfrm>
            <a:off x="400000" y="6238000"/>
            <a:ext cx="11392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n=10 사후(in-sample) 스윕 — 4개 중 '최고'를 고르는 건 다중비교 과적합이고, 분모가 작은 컷오프의 높은 %는 우연입니다. 1237회 적중을 보장하지 않습니다(로또는 독립 난수).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◎ 반복임계 — 회차별 ◎번호·반복수·적중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1227~1236 각 회차의 ◎번호(반복수≥4)와 실제 당첨된 번호(빨강). 반복수가 N이면 컷오프 N까지의 ◎에 포함됩니다.</a:t>
            </a:r>
          </a:p>
        </p:txBody>
      </p:sp>
      <p:graphicFrame>
        <p:nvGraphicFramePr>
          <p:cNvPr id="4" name="ght"/>
          <p:cNvGraphicFramePr/>
          <p:nvPr/>
        </p:nvGraphicFramePr>
        <p:xfrm>
          <a:off x="796000" y="1320000"/>
          <a:ext cx="10600000" cy="3600000"/>
        </p:xfrm>
        <a:graphic>
          <a:graphicData uri="http://schemas.openxmlformats.org/drawingml/2006/table">
            <a:tbl>
              <a:tblPr firstRow="1" bandRow="1"/>
              <a:tblGrid>
                <a:gridCol w="1300000"/>
                <a:gridCol w="7600000"/>
                <a:gridCol w="1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◎번호 : 반복수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C00000"/>
                          </a:solidFill>
                        </a:rPr>
                        <a:t>1237 예측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3:6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19:8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20:5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33:7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39:4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43:4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44:7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0">
                          <a:solidFill>
                            <a:srgbClr val="1F3864"/>
                          </a:solidFill>
                        </a:rPr>
                        <a:t>(예측)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14:7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29:5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31:5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36:4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37:4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44:5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45:4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14, 44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11:6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14:6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42:10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22:6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27:9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22:4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34:5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42:4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22, 42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23:6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38:4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39:4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44:5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7:4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14:4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17:5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25:4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40:5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7, 25, 40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6:5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22:7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6:4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25:6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26:5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35:6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22:4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24:5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26:6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32:6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42:4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45:10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foot"/>
          <p:cNvSpPr txBox="1"/>
          <p:nvPr/>
        </p:nvSpPr>
        <p:spPr>
          <a:xfrm>
            <a:off x="400000" y="6318000"/>
            <a:ext cx="11392000" cy="4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반복수 N = 그 다음간격이 과거 N회 반복. N=4·5·6·7 컷오프 포함 여부가 갈립니다. 1227~1236 사후 실측 — 미래 적중 보장 아님.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Malgun Gothic"/>
        <a:cs typeface="Calibri"/>
      </a:majorFont>
      <a:minorFont>
        <a:latin typeface="Calibri"/>
        <a:ea typeface="Malgun Gothic"/>
        <a:cs typeface="Calibr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