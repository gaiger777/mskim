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1246회차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1245회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19/111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15.71%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13.72%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79/589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23/182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11.32%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6/53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37/303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19/174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1246회차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12 21 24 37 40 43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177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06 11 15 37 40 43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152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07 11 12 15 22 33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100 · 홀4:짝2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06 07 24 30 31 33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131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02 20 21 22 31 36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132 · 홀2:짝4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1051~1245회)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1246회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1246회 재출현 유력 번호 (5개, 다음간격 과거 5회↑ 반복): 8, 18, 43, 11, 40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4(1241→1245)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4(1235→1239)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6(1232→1238)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1(1238→1239)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1(1239→1240)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4(1240→1244)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9(1229→1238)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3(1238→1241)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1051~1245회)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7(1236→1243)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2(1243→1245)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3(1235→1238)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11(1234→1245)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2(1225→1227)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15(1227→1242)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2(1242→1244)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3(1236→1239)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4(1239→1243)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12(1232→1244)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5(1235→1240)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17(1224→1241)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5(1236→1241)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4(1241→1245)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3(1234→1237)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4(1237→1241)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1(1237→1238)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2(1238→1240)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1051~1245회)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11(1231→1242)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10(1230→1240)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2(1240→1242)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10(1227→1237)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5(1237→1242)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2(1242→1244)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6(1234→1240)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4(1240→1244)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2(1237→1239)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13(1226→1239)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8(1229→1237)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8(1237→1245)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10(1233→1243)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7(1231→1238)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4(1238→1242)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1(1242→1243)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14(1229→1243)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1(1243→1244)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4(1233→1237)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8(1237→1245)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16(1222→1238)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6(1235→1241)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1246회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1236~1245 각 회차를 직전 데이터로 예측한 패턴 성적 상위 5개 → 그 패턴들의 1246회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1246후보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5 11 20 29 35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2 5 13 33 40 42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1 3 4 10 20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5(3), 20(2), 1, 2, 3, 4, 10, 11, 13, 29, 33, 35, 36, 40, 42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1246후보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|d6-d5|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5, 10, 23, 36, 37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1236~1245 사후(in-sample) 과적합 결과 — 62개 패턴 중 이 구간에서 우연히 잘 맞은 컷일 뿐, 1246회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1246회 예측번호 + 1236~1245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1246예측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5, 11, 20, 29, 35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1236:34   1239:13   1240:13   1241:13,24   1242:4   1243:9   1244:13,34   1245:42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2, 5, 13, 33, 40, 42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1236:29   1237:34   1238:18   1240:20   1241:7   1242:41   1243:38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k3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1236:29   1237:34   1241:7   1242:41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1, 3, 4, 10, 20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1239:11   1241:13   1244:1   1245:4,5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1238:2   1240:44   1242:31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1240:19   1241:7   1242:10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|d6-d2|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1237:20   1244:26   1245:25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|d6-d5|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1241:13   1244:1   1245:4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1236~1245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1246회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1236~1245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1246회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2, 7, 11, 14, 20, 23, 31, 37, 43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2, 7, 11, 31, 37, 43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11, 37, 43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37, 43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(1/8 = 12.5%)  ·  1246회 해당 ◎ 예측번호: 37, 43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1246회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1236~1245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1246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37:8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43:8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11, 22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1, 13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1236~1245 사후 실측 — 미래 적중 보장 아님.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다음회차 동반 출현 통계 — 번호 N이 나온 다음 회차 상위 3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1~1245회 · N이 당첨된 회차의 바로 다음 회차 본번호 6개 집계(보너스 제외) · (횟수·N출현 대비%) · 노랑 = 1245회 당첨번호</a:t>
            </a:r>
          </a:p>
        </p:txBody>
      </p:sp>
      <p:graphicFrame>
        <p:nvGraphicFramePr>
          <p:cNvPr id="4" name="fl0"/>
          <p:cNvGraphicFramePr/>
          <p:nvPr/>
        </p:nvGraphicFramePr>
        <p:xfrm>
          <a:off x="471000" y="1250000"/>
          <a:ext cx="11250000" cy="48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(31회·18.1%)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(30회·17.5%)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27, 35, 44 (29회·17.0%)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25, 33 (29회·18.5%)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2, 7, 15 (27회·17.2%)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(35회·20.3%)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(33회·19.2%)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 (32회·18.6%)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(34회·20.9%)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 (30회·18.4%)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(29회·17.8%)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(32회·20.9%)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 (30회·19.6%)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 (29회·19.0%)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(32회·19.3%)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 (31회·18.7%)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35 (28회·16.9%)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(33회·19.3%)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16, 43 (30회·17.5%)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(32회·20.3%)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31, 34 (27회·17.1%)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34 (25회·18.2%)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26 (24회·17.5%)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(33회·20.2%)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 (30회·18.4%)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12 (29회·17.8%)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43 (33회·19.6%)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(30회·17.9%)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40, 45 (28회·16.7%)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 (34회·18.9%)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38, 43 (32회·17.8%)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(34회·18.5%)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21, 31 (33회·17.9%)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24 (32회·18.6%)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(29회·16.9%)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(32회·18.8%)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16, 40 (30회·17.6%)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 (32회·18.8%)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(30회·17.6%)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9, 13, 30 (29회·17.1%)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(32회·18.7%)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 (31회·18.1%)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 (29회·17.0%)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18, 33 (32회·17.8%)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(31회·17.2%)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(35회·20.5%)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(32회·18.7%)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(30회·17.5%)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(38회·22.1%)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26, 33 (29회·16.9%)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(31회·18.6%)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18 (29회·17.4%)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(27회·18.5%)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 (26회·17.8%)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13, 42 (25회·17.1%)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(29회·19.5%)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 (27회·18.1%)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 (25회·16.8%)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특정 번호가 다음 회차에 나올 기본 확률은 6/45 ≈ 13.3%. 45개 중 최댓값을 고르므로 무작위여도 1위는 18~20% 수준이 나옵니다 — 참고용 통계.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다음회차 동반 출현 통계 — 번호 N이 나온 다음 회차 상위 3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1~1245회 · N이 당첨된 회차의 바로 다음 회차 본번호 6개 집계(보너스 제외) · (횟수·N출현 대비%) · 노랑 = 1245회 당첨번호</a:t>
            </a:r>
          </a:p>
        </p:txBody>
      </p:sp>
      <p:graphicFrame>
        <p:nvGraphicFramePr>
          <p:cNvPr id="4" name="fl1"/>
          <p:cNvGraphicFramePr/>
          <p:nvPr/>
        </p:nvGraphicFramePr>
        <p:xfrm>
          <a:off x="471000" y="1250000"/>
          <a:ext cx="11250000" cy="46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(35회·20.8%)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(34회·20.2%)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 (32회·19.0%)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 (30회·19.6%)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 (28회·18.3%)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 (27회·17.6%)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(33회·19.9%)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 (29회·17.5%)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(27회·16.3%)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 (34회·18.8%)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 (33회·18.2%)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 (31회·17.1%)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 (29회·18.5%)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 (28회·17.8%)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33 (27회·17.2%)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36 (29회·18.6%)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(28회·17.9%)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31, 44 (27회·17.3%)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 (32회·20.3%)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 (31회·19.6%)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(31회·18.1%)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6, 15, 24, 34 (29회·17.0%)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(28회·19.2%)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(26회·17.8%)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20 (25회·17.1%)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(31회·17.7%)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44 (30회·17.1%)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(37회·19.8%)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 (33회·17.6%)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 (32회·17.1%)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21, 37 (30회·18.4%)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 (29회·17.8%)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 (36회·21.8%)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 (30회·18.2%)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 (27회·16.4%)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(34회·19.5%)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 (30회·17.2%)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(29회·16.7%)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(34회·19.5%)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(33회·19.0%)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45 (32회·18.4%)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18, 42 (33회·19.6%)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 (29회·17.3%)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 (33회·19.0%)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 (32회·18.4%)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24, 35 (31회·17.8%)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(27회·17.9%)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26 (26회·17.2%)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(28회·17.7%)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33, 45 (26회·16.5%)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(33회·19.8%)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34, 36 (31회·18.6%)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7, 24, 40 (30회·18.1%)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(32회·18.3%)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15, 36 (30회·17.1%)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특정 번호가 다음 회차에 나올 기본 확률은 6/45 ≈ 13.3%. 45개 중 최댓값을 고르므로 무작위여도 1위는 18~20% 수준이 나옵니다 — 참고용 통계.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1246회차 적용 — 1245회 당첨번호 기준 다음회차 후보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1245회 당첨번호: 4, 5, 25, 28, 32, 42 · 오른쪽 표 = 여러 번호의 상위 3에 겹쳐 등장한 후보</a:t>
            </a:r>
          </a:p>
        </p:txBody>
      </p:sp>
      <p:graphicFrame>
        <p:nvGraphicFramePr>
          <p:cNvPr id="4" name="fa_l"/>
          <p:cNvGraphicFramePr/>
          <p:nvPr/>
        </p:nvGraphicFramePr>
        <p:xfrm>
          <a:off x="451000" y="1350000"/>
          <a:ext cx="6640000" cy="26600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1880000"/>
                <a:gridCol w="1880000"/>
                <a:gridCol w="188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1245회 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(34회·20.9%)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 (30회·18.4%)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(29회·17.8%)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(32회·20.9%)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 (30회·19.6%)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 (29회·19.0%)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 (30회·19.6%)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 (28회·18.3%)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 (27회·17.6%)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 (29회·18.5%)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 (28회·17.8%)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33 (27회·17.2%)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(28회·19.2%)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(26회·17.8%)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20 (25회·17.1%)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(30회·19.0%)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(28회·17.7%)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33, 45 (26회·16.5%)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fa_r"/>
          <p:cNvGraphicFramePr/>
          <p:nvPr/>
        </p:nvGraphicFramePr>
        <p:xfrm>
          <a:off x="7391000" y="1350000"/>
          <a:ext cx="4350000" cy="33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900000"/>
                <a:gridCol w="25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겹침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근거 (N→횟수)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5→32, 25→28, 32→28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28→28, 32→25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28→27, 42→26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25→27, 32→25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4→34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5→30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4→30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25→30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42→30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5→29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겹침 = 1245회 당첨번호 중 몇 개의 '다음회차 상위 3'에 들어갔는지(빨강 = 2개 이상). 과거 출현 빈도이며 적중을 보장하지 않습니다.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이월수 통계 — 번호 N이 이월(연속 2회 당첨)된 다음 회차 상위 3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1~1245회 · N이 t-1·t회 연속 당첨 → t+1회 본번호 6개 집계(보너스 제외) · (횟수·N이월 대비%) · 노랑 = 1245회 이월수</a:t>
            </a:r>
          </a:p>
        </p:txBody>
      </p:sp>
      <p:graphicFrame>
        <p:nvGraphicFramePr>
          <p:cNvPr id="4" name="fl0"/>
          <p:cNvGraphicFramePr/>
          <p:nvPr/>
        </p:nvGraphicFramePr>
        <p:xfrm>
          <a:off x="471000" y="1250000"/>
          <a:ext cx="11250000" cy="48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(8회·33.3%)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4, 14, 15, 23, 39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1, 2, 4, 10, 13, 36, 39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(7회·25.9%)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26, 29, 31, 32, 37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1, 18, 20, 23, 24, 28, 29, 34 외 2개 (4회·25.0%)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19, 27 (8회·26.7%)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2, 16, 29, 44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 (7회·43.8%)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24, 35 (5회·31.2%)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(8회·34.8%)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 (7회·30.4%)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(6회·26.1%)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17, 21, 36 (5회·25.0%)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4, 41 (6회·28.6%)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17, 20, 31 (5회·23.8%)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(9회·45.0%)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 (8회·40.0%)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 (6회·30.0%)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15 (6회·27.3%)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14, 42 (8회·32.0%)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28, 29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 (9회·31.0%)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 (8회·27.6%)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13, 23, 38 (7회·24.1%)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24, 33 (6회·37.5%)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 (5회·31.2%)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5, 8, 43 (7회·25.9%)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19, 24, 27, 34, 39, 41, 44 (5회·22.7%)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26, 37 (7회·30.4%)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17, 27, 42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 (9회·28.1%)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8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(8회·28.6%)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 (7회·25.0%)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19, 26, 31 (6회·21.4%)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29, 33 (5회·27.8%)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 (8회·28.6%)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31, 34, 37 (7회·25.0%)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(5회·26.3%)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8, 11, 13, 15, 17, 21, 23, 24 외 4개 (4회·21.1%)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21, 28 (5회·31.2%)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17 (4회·25.0%)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이월 표본은 번호당 15~32건으로 작아 공동 순위가 많고 비율 변동이 큽니다. 기본 확률 6/45 ≈ 13.3% — 참고용 통계.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이월수 통계 — 번호 N이 이월(연속 2회 당첨)된 다음 회차 상위 3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1~1245회 · N이 t-1·t회 연속 당첨 → t+1회 본번호 6개 집계(보너스 제외) · (횟수·N이월 대비%) · 노랑 = 1245회 이월수</a:t>
            </a:r>
          </a:p>
        </p:txBody>
      </p:sp>
      <p:graphicFrame>
        <p:nvGraphicFramePr>
          <p:cNvPr id="4" name="fl1"/>
          <p:cNvGraphicFramePr/>
          <p:nvPr/>
        </p:nvGraphicFramePr>
        <p:xfrm>
          <a:off x="471000" y="1250000"/>
          <a:ext cx="11250000" cy="4600000"/>
        </p:xfrm>
        <a:graphic>
          <a:graphicData uri="http://schemas.openxmlformats.org/drawingml/2006/table">
            <a:tbl>
              <a:tblPr firstRow="1" bandRow="1"/>
              <a:tblGrid>
                <a:gridCol w="800000"/>
                <a:gridCol w="1000000"/>
                <a:gridCol w="3150000"/>
                <a:gridCol w="3150000"/>
                <a:gridCol w="31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(8회·30.8%)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 (7회·26.9%)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 (8회·44.4%)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6, 10, 33, 40 (5회·27.8%)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(7회·26.9%)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19, 22, 25, 31, 44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 (9회·30.0%)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39, 40, 42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2, 12, 25 (7회·26.9%)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35 (9회·40.9%)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 (6회·27.3%)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2, 13, 33 (6회·35.3%)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1, 6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7, 34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7, 19, 20, 23, 31 (4회·26.7%)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 (9회·33.3%)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18, 45 (7회·25.9%)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(10회·33.3%)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 (9회·30.0%)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33, 38 (8회·26.7%)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 (7회·35.0%)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34, 41 (6회·30.0%)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 (5회·31.2%)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33, 44 (4회·25.0%)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(9회·40.9%)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10, 11, 24 (5회·22.7%)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 (7회·26.9%)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8, 13, 30, 35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24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19, 20, 40, 43, 44 (5회·20.8%)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10, 40 (8회·32.0%)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(7회·46.7%)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2, 16 (5회·33.3%)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(7회·41.2%)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9, 11, 25 (5회·29.4%)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10, 34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7, 13, 18, 31, 36, 45 (5회·21.7%)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6, 29 (7회·31.8%)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 (6회·27.3%)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12, 23, 41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이월 표본은 번호당 15~32건으로 작아 공동 순위가 많고 비율 변동이 큽니다. 기본 확률 6/45 ≈ 13.3% — 참고용 통계.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이월 회차 단위 통계 — 이월이 있었던 회차의 다음 회차 출현 순위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0">
                <a:solidFill>
                  <a:srgbClr val="808080"/>
                </a:solidFill>
              </a:rPr>
              <a:t>1~1245회 중 이월수가 1개 이상인 회차 763회 · 다음 회차 본번호를 회차당 1번씩 집계 · 기준대비 = 전체 회차 출현율 대비 배수 · 1245회는 이월수 없음 → 1246회에는 직접 적용되지 않음</a:t>
            </a:r>
          </a:p>
        </p:txBody>
      </p:sp>
      <p:graphicFrame>
        <p:nvGraphicFramePr>
          <p:cNvPr id="4" name="cd0"/>
          <p:cNvGraphicFramePr/>
          <p:nvPr/>
        </p:nvGraphicFramePr>
        <p:xfrm>
          <a:off x="221000" y="1350000"/>
          <a:ext cx="3750000" cy="432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50000"/>
                <a:gridCol w="750000"/>
                <a:gridCol w="85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d1"/>
          <p:cNvGraphicFramePr/>
          <p:nvPr/>
        </p:nvGraphicFramePr>
        <p:xfrm>
          <a:off x="4221000" y="1350000"/>
          <a:ext cx="3750000" cy="432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50000"/>
                <a:gridCol w="750000"/>
                <a:gridCol w="85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d2"/>
          <p:cNvGraphicFramePr/>
          <p:nvPr/>
        </p:nvGraphicFramePr>
        <p:xfrm>
          <a:off x="8221000" y="1350000"/>
          <a:ext cx="3750000" cy="432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50000"/>
                <a:gridCol w="750000"/>
                <a:gridCol w="85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808080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비율 = 이월 회차 중 다음 회차에 그 번호가 나온 비율(기본 6/45 ≈ 13.3%). 기준대비 1.00 = 평소와 같음, 빨강 = 1.10배 이상 — 참고용 통계.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보너스 통계 — 번호 N이 보너스로 나온 다음 회차 상위 3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1~1245회 · N이 t회 보너스 → t+1회 당첨번호(번호1~6) 집계 · 보너스가 다음 회차 당첨번호로 나온 비율 172/1244 = 13.8% (기본 13.3%) · 노랑 = 1245회 보너스</a:t>
            </a:r>
          </a:p>
        </p:txBody>
      </p:sp>
      <p:graphicFrame>
        <p:nvGraphicFramePr>
          <p:cNvPr id="4" name="fl0"/>
          <p:cNvGraphicFramePr/>
          <p:nvPr/>
        </p:nvGraphicFramePr>
        <p:xfrm>
          <a:off x="496000" y="1250000"/>
          <a:ext cx="11200000" cy="480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800000"/>
                <a:gridCol w="1150000"/>
                <a:gridCol w="2850000"/>
                <a:gridCol w="2850000"/>
                <a:gridCol w="28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보너스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다음회차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33 (8회·24.2%)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29, 30, 32, 35, 36 외 1개 (7회·21.2%)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27, 34 (9회·25.0%)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30, 36, 40 (8회·22.2%)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 (0%)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38, 40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20, 28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(12회·34.3%)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 (10회·28.6%)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 (8회·22.9%)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 (9회·36.0%)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(8회·32.0%)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21, 31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15, 41 (11회·32.4%)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 (9회·26.5%)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11 (8회·25.0%)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24, 31, 41, 45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15, 35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6회 (21%)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2, 11 (8회·28.6%)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9, 18, 19, 39, 40 외 1개 (6회·21.4%)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 (9회·31.0%)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31, 33 (7회·24.1%)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19, 36, 42 (7회·26.9%)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6회 (22%)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23, 36, 44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31, 38 (7회·25.0%)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 (7회·30.4%)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21 (6회·26.1%)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28, 35, 45 (7회·26.9%)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 (8회·26.7%)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11, 21, 32, 42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24 (9회·27.3%)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8, 21, 27, 34, 42 (7회·21.2%)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 (6회·31.6%)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16, 18, 27, 29, 40 (5회·26.3%)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 (8회·36.4%)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15, 45 (6회·27.3%)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 (8회·26.7%)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3, 20, 38, 41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(7회·28.0%)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20, 39 (6회·24.0%)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(14%)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 (7회·33.3%)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21, 23, 35, 36, 38 (5회·23.8%)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(14%)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 (6회·28.6%)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22, 24, 39 (5회·23.8%)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보너스 번호는 당첨번호가 아니며, '다음 회차 당첨번호로 나오는지'를 보는 조건으로만 사용합니다. 번호당 표본 18~36건 — 참고용 통계.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보너스 통계 — 번호 N이 보너스로 나온 다음 회차 상위 3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1~1245회 · N이 t회 보너스 → t+1회 당첨번호(번호1~6) 집계 · 보너스가 다음 회차 당첨번호로 나온 비율 172/1244 = 13.8% (기본 13.3%) · 노랑 = 1245회 보너스</a:t>
            </a:r>
          </a:p>
        </p:txBody>
      </p:sp>
      <p:graphicFrame>
        <p:nvGraphicFramePr>
          <p:cNvPr id="4" name="fl1"/>
          <p:cNvGraphicFramePr/>
          <p:nvPr/>
        </p:nvGraphicFramePr>
        <p:xfrm>
          <a:off x="496000" y="1250000"/>
          <a:ext cx="11200000" cy="460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800000"/>
                <a:gridCol w="1150000"/>
                <a:gridCol w="2850000"/>
                <a:gridCol w="2850000"/>
                <a:gridCol w="2850000"/>
              </a:tblGrid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보너스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다음회차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7, 11, 17, 30 (8회·24.2%)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 (7회·29.2%)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15, 17, 35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34, 36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19, 20, 31, 41, 44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33 (10회·30.3%)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 (9회·27.3%)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6, 10, 29 (8회·24.2%)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 (10회·38.5%)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 (9회·34.6%)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8, 13, 31, 33, 37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 (0%)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 (7회·38.9%)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 (6회·33.3%)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37, 45 (5회·27.8%)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6회 (19%)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12, 21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15, 38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37 (11회·34.4%)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7, 12 (8회·25.0%)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3, 15, 21 (9회·26.5%)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 (16%)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(8회·25.0%)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16, 23, 41 (7회·21.9%)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(21%)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13, 18, 25, 37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 (3%)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29, 34 (9회·29.0%)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5, 13, 26 (7회·22.6%)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6회 (24%)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21 (8회·32.0%)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1, 35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29 (8회·30.8%)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13, 18, 21, 25, 35 (6회·23.1%)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(7%)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8, 25 (7회·23.3%)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18, 19, 23, 27, 32 (6회·20.0%)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 (8회·32.0%)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10, 33, 43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 (18%)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 (9회·40.9%)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15 (7회·31.8%)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5회 (26%)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(9회·47.4%)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 (6회·31.6%)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14, 17, 34, 41, 44 (5회·26.3%)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 (8%)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20, 22, 37 (7회·28.0%)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0000"/>
                          </a:solidFill>
                        </a:rPr>
                        <a:t>7회 (20%)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3, 28 (8회·22.9%)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4, 10, 43 (7회·20.0%)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 (0%)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 (9회·37.5%)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 (7회·29.2%)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18, 26, 27 (6회·25.0%)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 (14%)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23 (7회·31.8%)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5, 7, 26, 34 (6회·27.3%)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보너스 번호는 당첨번호가 아니며, '다음 회차 당첨번호로 나오는지'를 보는 조건으로만 사용합니다. 번호당 표본 18~36건 — 참고용 통계.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1246회차 적용 — 1245회 보너스 기준 다음회차 후보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1245회 보너스: 12 · 오른쪽 표 = 여러 번호의 상위 3에 겹쳐 등장한 후보</a:t>
            </a:r>
          </a:p>
        </p:txBody>
      </p:sp>
      <p:graphicFrame>
        <p:nvGraphicFramePr>
          <p:cNvPr id="4" name="fa_l"/>
          <p:cNvGraphicFramePr/>
          <p:nvPr/>
        </p:nvGraphicFramePr>
        <p:xfrm>
          <a:off x="451000" y="1350000"/>
          <a:ext cx="6640000" cy="760000"/>
        </p:xfrm>
        <a:graphic>
          <a:graphicData uri="http://schemas.openxmlformats.org/drawingml/2006/table">
            <a:tbl>
              <a:tblPr firstRow="1" bandRow="1"/>
              <a:tblGrid>
                <a:gridCol w="1000000"/>
                <a:gridCol w="1880000"/>
                <a:gridCol w="1880000"/>
                <a:gridCol w="188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1245회 보너스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BF8F00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 (8회·29.6%)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12, 23, 36, 44 (6회·22.2%) 공동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–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fa_r"/>
          <p:cNvGraphicFramePr/>
          <p:nvPr/>
        </p:nvGraphicFramePr>
        <p:xfrm>
          <a:off x="7391000" y="1350000"/>
          <a:ext cx="4350000" cy="18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900000"/>
                <a:gridCol w="25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겹침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근거 (N→횟수)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12→8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12→6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12→6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12→6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595959"/>
                          </a:solidFill>
                        </a:rPr>
                        <a:t>12→6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겹침 = 1245회 보너스 중 몇 개의 '다음회차 상위 3'에 들어갔는지(빨강 = 2개 이상). 과거 출현 빈도이며 적중을 보장하지 않습니다.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1246회차 타이밍 요약 — 나올 타이밍 vs 쉬어갈 패턴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1245회까지의 미출현 기간 기준 · 확률 = 과거 같은 미출현 길이 뒤 실제 출현 비율</a:t>
            </a:r>
          </a:p>
        </p:txBody>
      </p:sp>
      <p:sp>
        <p:nvSpPr>
          <p:cNvPr id="4" name="lbl0"/>
          <p:cNvSpPr txBox="1"/>
          <p:nvPr/>
        </p:nvSpPr>
        <p:spPr>
          <a:xfrm>
            <a:off x="-29000" y="1230000"/>
            <a:ext cx="5950000" cy="3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나올 타이밍</a:t>
            </a:r>
          </a:p>
        </p:txBody>
      </p:sp>
      <p:graphicFrame>
        <p:nvGraphicFramePr>
          <p:cNvPr id="5" name="ts0"/>
          <p:cNvGraphicFramePr/>
          <p:nvPr/>
        </p:nvGraphicFramePr>
        <p:xfrm>
          <a:off x="-29000" y="1580000"/>
          <a:ext cx="5950000" cy="2970000"/>
        </p:xfrm>
        <a:graphic>
          <a:graphicData uri="http://schemas.openxmlformats.org/drawingml/2006/table">
            <a:tbl>
              <a:tblPr firstRow="1" bandRow="1"/>
              <a:tblGrid>
                <a:gridCol w="2550000"/>
                <a:gridCol w="700000"/>
                <a:gridCol w="1000000"/>
                <a:gridCol w="80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멸구간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49.1%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35.8%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30번대(31-40)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14.9%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단번대(1-10)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176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13.2%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이월수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21.5%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동끝수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9.5%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소수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28.6%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26.1%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쌍수(11·22·33·44)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47.8%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전회 보너스 →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14.6%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100 미만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BF8F00"/>
                          </a:solidFill>
                        </a:rPr>
                        <a:t>11.7%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6" name="lbl1"/>
          <p:cNvSpPr txBox="1"/>
          <p:nvPr/>
        </p:nvSpPr>
        <p:spPr>
          <a:xfrm>
            <a:off x="6271000" y="1230000"/>
            <a:ext cx="5950000" cy="3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808080"/>
                </a:solidFill>
              </a:rPr>
              <a:t>쉬어갈 패턴</a:t>
            </a:r>
          </a:p>
        </p:txBody>
      </p:sp>
      <p:graphicFrame>
        <p:nvGraphicFramePr>
          <p:cNvPr id="7" name="ts1"/>
          <p:cNvGraphicFramePr/>
          <p:nvPr/>
        </p:nvGraphicFramePr>
        <p:xfrm>
          <a:off x="6271000" y="1580000"/>
          <a:ext cx="5950000" cy="2160000"/>
        </p:xfrm>
        <a:graphic>
          <a:graphicData uri="http://schemas.openxmlformats.org/drawingml/2006/table">
            <a:tbl>
              <a:tblPr firstRow="1" bandRow="1"/>
              <a:tblGrid>
                <a:gridCol w="2550000"/>
                <a:gridCol w="700000"/>
                <a:gridCol w="1000000"/>
                <a:gridCol w="800000"/>
                <a:gridCol w="900000"/>
              </a:tblGrid>
              <a:tr h="27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3연번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5.4%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20번대(21-30)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홀짝 극단(홀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7.8%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연번 2쌍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6.7%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쌍(12↔21 등 동시)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4.6%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고저 극단(≤22가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12.9%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19.2%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7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쌍수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808080"/>
                          </a:solidFill>
                        </a:rPr>
                        <a:t>6.0%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bt"/>
          <p:cNvSpPr txBox="1"/>
          <p:nvPr/>
        </p:nvSpPr>
        <p:spPr>
          <a:xfrm>
            <a:off x="400000" y="5958000"/>
            <a:ext cx="11392000" cy="38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백테스트(최근 100회, 각 시점 데이터만 사용): '◎ 타이밍' 선정 390건 중 다음 회차 실제 출현 57건 (14.6%) · 같은 패턴들의 평소 출현율 기준 기대 51.8건 (13.3%) → 실제/기대 1.10배</a:t>
            </a:r>
          </a:p>
        </p:txBody>
      </p:sp>
      <p:sp>
        <p:nvSpPr>
          <p:cNvPr id="9" name="foot"/>
          <p:cNvSpPr txBox="1"/>
          <p:nvPr/>
        </p:nvSpPr>
        <p:spPr>
          <a:xfrm>
            <a:off x="400000" y="6338000"/>
            <a:ext cx="11392000" cy="4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로또는 독립 추첨이라 '오래 안 나왔으니 나온다'는 보장되지 않습니다. 실측 경향을 보는 참고용 통계.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타이밍 통계 — 패턴별 미출현 기간과 1246회 출현 확률  (1/2)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2~1245회 실측 · 현재 미출현 = 1245회 기준 연속 미출현 회차(0 = 1245회에 출현) · 다음회차 확률 = 과거 같은 미출현 길이 뒤 실제 출현 비율(근거: 미출현 길이·표본) · 기준대비 = 평소 출현율 대비 배수</a:t>
            </a:r>
          </a:p>
        </p:txBody>
      </p:sp>
      <p:graphicFrame>
        <p:nvGraphicFramePr>
          <p:cNvPr id="4" name="tm0"/>
          <p:cNvGraphicFramePr/>
          <p:nvPr/>
        </p:nvGraphicFramePr>
        <p:xfrm>
          <a:off x="971000" y="1300000"/>
          <a:ext cx="10250000" cy="4410000"/>
        </p:xfrm>
        <a:graphic>
          <a:graphicData uri="http://schemas.openxmlformats.org/drawingml/2006/table">
            <a:tbl>
              <a:tblPr firstRow="1" bandRow="1"/>
              <a:tblGrid>
                <a:gridCol w="650000"/>
                <a:gridCol w="2550000"/>
                <a:gridCol w="800000"/>
                <a:gridCol w="900000"/>
                <a:gridCol w="900000"/>
                <a:gridCol w="900000"/>
                <a:gridCol w="1750000"/>
                <a:gridCol w="800000"/>
                <a:gridCol w="1000000"/>
              </a:tblGrid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출현율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평균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최장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 확률(근거)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쌍수(11·22·33·44)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47.8% (2회·184)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쌍수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6.0% (5회·67)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0.72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연번(2연속)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49.6% (0회·643)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0.0% (17회·28)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연번 2쌍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6.7% (17회·15)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거울수 쌍(12↔21 등 동시)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4.6% (5회·65)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거울수 이월(전회 번호의 거울수)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18.4% (1회·174)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이월수 1개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60.9% (1회·299)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이월수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21.5% (1회·195)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이웃수(전회 번호 ±1)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83.7%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82.8% (0회·1040)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전회 보너스 →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14.6% (0회·171)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동끝수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9.5% (4회·74)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동끝수 2쌍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23.8% (0회·302)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홀짝 극단(홀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7.8% (7회·51)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고저 극단(≤22가 0~1·5~6개)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12.9% (17회+·31)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소수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4.0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28.6% (3회·133)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합계 100 미만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11.7% (19회+·111)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합계 176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13.2% (2회·114)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구조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멸구간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49.1% (5회·55)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◎ 타이밍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단번대(1-10)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78.4% (0회·973)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950" b="0">
                <a:solidFill>
                  <a:srgbClr val="A6A6A6"/>
                </a:solidFill>
              </a:rPr>
              <a:t>※ 판정: ◎ 기준대비 1.2배↑(표본 20↑) · ○ 1.05배↑ 또는 최장 미출현의 80%↑ · △ 보통 · ▽ 0.9배 미만 · 기록경신 = 현재 미출현이 역대 최장 이상 · 희귀 = 평소 3% 미만(판정 제외). 현재 미출현이 빨강 = 최장의 80% 이상.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타이밍 통계 — 패턴별 미출현 기간과 1246회 출현 확률  (2/2)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2~1245회 실측 · 현재 미출현 = 1245회 기준 연속 미출현 회차(0 = 1245회에 출현) · 다음회차 확률 = 과거 같은 미출현 길이 뒤 실제 출현 비율(근거: 미출현 길이·표본) · 기준대비 = 평소 출현율 대비 배수</a:t>
            </a:r>
          </a:p>
        </p:txBody>
      </p:sp>
      <p:graphicFrame>
        <p:nvGraphicFramePr>
          <p:cNvPr id="4" name="tm1"/>
          <p:cNvGraphicFramePr/>
          <p:nvPr/>
        </p:nvGraphicFramePr>
        <p:xfrm>
          <a:off x="971000" y="1300000"/>
          <a:ext cx="10250000" cy="4200000"/>
        </p:xfrm>
        <a:graphic>
          <a:graphicData uri="http://schemas.openxmlformats.org/drawingml/2006/table">
            <a:tbl>
              <a:tblPr firstRow="1" bandRow="1"/>
              <a:tblGrid>
                <a:gridCol w="650000"/>
                <a:gridCol w="2550000"/>
                <a:gridCol w="800000"/>
                <a:gridCol w="900000"/>
                <a:gridCol w="900000"/>
                <a:gridCol w="900000"/>
                <a:gridCol w="1750000"/>
                <a:gridCol w="800000"/>
                <a:gridCol w="1000000"/>
              </a:tblGrid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출현율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평균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최장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현재 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다음회차 확률(근거)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기준대비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10번대(11-20)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83.1%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82.6% (1회·172)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20번대(21-30)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78.9% (0회·980)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30번대(31-40)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79.8%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79.7% (0회·992)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40번대(41-45)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50.1% (0회·647)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단번대(1-10)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11.1% (3회·90)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10번대(11-20)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12.5% (5회·80)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20번대(21-30)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10.6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0.0% (17회·19)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▽ 쉬어감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30번대(31-40)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14.9% (6회·67)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BF8F00"/>
                          </a:solidFill>
                        </a:rPr>
                        <a:t>○ 관심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번호대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40번대(41-45)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60.2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0.0% (249회+·15)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A6A6A6"/>
                          </a:solidFill>
                        </a:rPr>
                        <a:t>희귀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0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42.0% (3회·88)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1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49.7% (1회·312)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2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51.4% (0회·617)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3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53.8%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55.5% (1회·317)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4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56.4% (0회·683)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5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54.4% (0회·652)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6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44.8% (1회·317)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7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46.5%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45.3% (4회·53)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8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44.8%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45.7% (0회·556)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21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끝수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9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43.7%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2.3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42.6% (2회·169)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595959"/>
                          </a:solidFill>
                        </a:rPr>
                        <a:t>△ 보통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950" b="0">
                <a:solidFill>
                  <a:srgbClr val="A6A6A6"/>
                </a:solidFill>
              </a:rPr>
              <a:t>※ 판정: ◎ 기준대비 1.2배↑(표본 20↑) · ○ 1.05배↑ 또는 최장 미출현의 80%↑ · △ 보통 · ▽ 0.9배 미만 · 기록경신 = 현재 미출현이 역대 최장 이상 · 희귀 = 평소 3% 미만(판정 제외). 현재 미출현이 빨강 = 최장의 80% 이상.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미출현 기간별 다음 회차 출현 확률 — "몇 회 안 나오면 다음에 나오나"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2~1245회 실측 · 칸 = k회 연속 미출현 뒤 다음 회차 출현 비율(표본 15 미만은 회색) · 노랑 테두리 칸 = 1245회 기준 현재 위치 · 맨 오른쪽 = 평소 출현율</a:t>
            </a:r>
          </a:p>
        </p:txBody>
      </p:sp>
      <p:graphicFrame>
        <p:nvGraphicFramePr>
          <p:cNvPr id="4" name="tc"/>
          <p:cNvGraphicFramePr/>
          <p:nvPr/>
        </p:nvGraphicFramePr>
        <p:xfrm>
          <a:off x="546000" y="1350000"/>
          <a:ext cx="11100000" cy="396000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760000"/>
                <a:gridCol w="900000"/>
              </a:tblGrid>
              <a:tr h="33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0회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1회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2회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3회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8회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9회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10회+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FFFFFF"/>
                          </a:solidFill>
                        </a:rPr>
                        <a:t>평소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쌍수(11·22·33·44)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39%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48%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29%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80%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연번(2연속)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100%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쌍(12↔21 등 동시)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808080"/>
                          </a:solidFill>
                        </a:rPr>
                        <a:t>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거울수 이월(전회 번호의 거울수)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이월수 1개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100%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이월수 2개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동끝수 3개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40번대(41-45) 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70%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C0C0C0"/>
                          </a:solidFill>
                        </a:rPr>
                        <a:t>100%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750" b="0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52%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100 미만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합계 176 이상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3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전회 보너스 → 당첨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빨강 = 평소보다 1.2배↑, 회색 글자 = 평소의 0.9배 미만 또는 표본 부족. 독립 추첨이라면 모든 칸이 '평소' 근처여야 하며, 차이는 대부분 표본 흔들림입니다.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