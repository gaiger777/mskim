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400" b="1">
                <a:solidFill>
                  <a:srgbClr val="1F3864"/>
                </a:solidFill>
              </a:rPr>
              <a:t>1227회차 로또 패턴 분석 리포트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40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기준 1226회 · 학습창 200주 · 분석기 가중치 = 효과크기 z (소표본 보정)</a:t>
            </a:r>
          </a:p>
        </p:txBody>
      </p:sp>
      <p:sp>
        <p:nvSpPr>
          <p:cNvPr id="4" name="zt"/>
          <p:cNvSpPr txBox="1"/>
          <p:nvPr/>
        </p:nvSpPr>
        <p:spPr>
          <a:xfrm>
            <a:off x="400000" y="1300000"/>
            <a:ext cx="58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패턴별 효과크기(z·가중치) 순위</a:t>
            </a:r>
          </a:p>
        </p:txBody>
      </p:sp>
      <p:graphicFrame>
        <p:nvGraphicFramePr>
          <p:cNvPr id="5" name="ztbl"/>
          <p:cNvGraphicFramePr/>
          <p:nvPr/>
        </p:nvGraphicFramePr>
        <p:xfrm>
          <a:off x="400000" y="1660000"/>
          <a:ext cx="5500000" cy="4900000"/>
        </p:xfrm>
        <a:graphic>
          <a:graphicData uri="http://schemas.openxmlformats.org/drawingml/2006/table">
            <a:tbl>
              <a:tblPr firstRow="1" bandRow="1"/>
              <a:tblGrid>
                <a:gridCol w="620000"/>
                <a:gridCol w="1500000"/>
                <a:gridCol w="760000"/>
                <a:gridCol w="820000"/>
                <a:gridCol w="1100000"/>
                <a:gridCol w="700000"/>
              </a:tblGrid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z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정확도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적중/예측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반영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장기미출현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22.92%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11/48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오프셋(주기)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+1.53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5/20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16.16%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48/297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이월수(주기)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16.30%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22/135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연승패턴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+0.83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16.16%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16/99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3의배수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15.11%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34/225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궁합수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+0.61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14.78%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30/203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미출현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13.59%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39/287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끝수이월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+0.01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45/337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누적빈도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70/525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끝수통계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AC패턴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번호대빈도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+0.00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90/675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12.38%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25/202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이웃수(주기)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10.00%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3/30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멸구간(주기)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-0.57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12.38%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51/412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소수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-0.61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11.90%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25/210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홀짝균형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-0.74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11.66%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26/223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10.14%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7/69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최근강세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-0.85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11.76%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40/340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대각선(주기)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-1.02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8.33%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4/48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196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연번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AAAAAA"/>
                          </a:solidFill>
                        </a:rPr>
                        <a:t>-1.15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10.30%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17/165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C0C0C0"/>
                          </a:solidFill>
                        </a:rPr>
                        <a:t>×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dt"/>
          <p:cNvSpPr txBox="1"/>
          <p:nvPr/>
        </p:nvSpPr>
        <p:spPr>
          <a:xfrm>
            <a:off x="6700000" y="1300000"/>
            <a:ext cx="5000000" cy="32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400" b="1">
                <a:solidFill>
                  <a:srgbClr val="C00000"/>
                </a:solidFill>
              </a:rPr>
              <a:t>추천 순위그룹별 당첨 분포 (최근 200주)</a:t>
            </a:r>
          </a:p>
        </p:txBody>
      </p:sp>
      <p:graphicFrame>
        <p:nvGraphicFramePr>
          <p:cNvPr id="7" name="dtbl"/>
          <p:cNvGraphicFramePr/>
          <p:nvPr/>
        </p:nvGraphicFramePr>
        <p:xfrm>
          <a:off x="6700000" y="1660000"/>
          <a:ext cx="3700000" cy="3000000"/>
        </p:xfrm>
        <a:graphic>
          <a:graphicData uri="http://schemas.openxmlformats.org/drawingml/2006/table">
            <a:tbl>
              <a:tblPr firstRow="1" bandRow="1"/>
              <a:tblGrid>
                <a:gridCol w="1500000"/>
                <a:gridCol w="1100000"/>
                <a:gridCol w="11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 그룹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당첨 횟수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비율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1-5위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333333"/>
                          </a:solidFill>
                        </a:rPr>
                        <a:t>12.83%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6-10위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11.50%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11-15위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11.67%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16-20위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147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12.25%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21-25위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10.75%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26-30위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11.08%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31-35위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10.58%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36-40위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10.08%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41-45위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111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0">
                          <a:solidFill>
                            <a:srgbClr val="333333"/>
                          </a:solidFill>
                        </a:rPr>
                        <a:t>9.25%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summary"/>
          <p:cNvSpPr txBox="1"/>
          <p:nvPr/>
        </p:nvSpPr>
        <p:spPr>
          <a:xfrm>
            <a:off x="6700000" y="4910000"/>
            <a:ext cx="5000000" cy="1600000"/>
          </a:xfrm>
          <a:prstGeom prst="rect">
            <a:avLst/>
          </a:prstGeom>
        </p:spPr>
        <p:txBody>
          <a:bodyPr wrap="square"/>
          <a:lstStyle/>
          <a:p>
            <a:br/>
            <a:r>
              <a:rPr lang="ko-KR" sz="1000" b="0">
                <a:solidFill>
                  <a:srgbClr val="A6A6A6"/>
                </a:solidFill>
              </a:rPr>
              <a:t>※ 로또는 독립 난수 — 본 리포트는 통계적 참고용이며 적중을 보장하지 않습니다.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1~45 종합 순위 (분석기 가중 합산 점수)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0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노랑 음영 = 자동 추천 5게임에 포함된 번호</a:t>
            </a:r>
          </a:p>
        </p:txBody>
      </p:sp>
      <p:graphicFrame>
        <p:nvGraphicFramePr>
          <p:cNvPr id="4" name="rk0"/>
          <p:cNvGraphicFramePr/>
          <p:nvPr/>
        </p:nvGraphicFramePr>
        <p:xfrm>
          <a:off x="400000" y="1300000"/>
          <a:ext cx="4080000" cy="5120000"/>
        </p:xfrm>
        <a:graphic>
          <a:graphicData uri="http://schemas.openxmlformats.org/drawingml/2006/table">
            <a:tbl>
              <a:tblPr firstRow="1" bandRow="1"/>
              <a:tblGrid>
                <a:gridCol w="640000"/>
                <a:gridCol w="760000"/>
                <a:gridCol w="1080000"/>
                <a:gridCol w="16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4.70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3.90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3.63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3.41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2.98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2.95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2.80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2.84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3의배수,…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2.79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고저균형…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rk1"/>
          <p:cNvGraphicFramePr/>
          <p:nvPr/>
        </p:nvGraphicFramePr>
        <p:xfrm>
          <a:off x="4250000" y="1300000"/>
          <a:ext cx="4080000" cy="5120000"/>
        </p:xfrm>
        <a:graphic>
          <a:graphicData uri="http://schemas.openxmlformats.org/drawingml/2006/table">
            <a:tbl>
              <a:tblPr firstRow="1" bandRow="1"/>
              <a:tblGrid>
                <a:gridCol w="640000"/>
                <a:gridCol w="760000"/>
                <a:gridCol w="1080000"/>
                <a:gridCol w="16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2.19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1.84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1.92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출현주기…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1.84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1.78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커스텀패턴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1.50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rk2"/>
          <p:cNvGraphicFramePr/>
          <p:nvPr/>
        </p:nvGraphicFramePr>
        <p:xfrm>
          <a:off x="8100000" y="1300000"/>
          <a:ext cx="4080000" cy="5120000"/>
        </p:xfrm>
        <a:graphic>
          <a:graphicData uri="http://schemas.openxmlformats.org/drawingml/2006/table">
            <a:tbl>
              <a:tblPr firstRow="1" bandRow="1"/>
              <a:tblGrid>
                <a:gridCol w="640000"/>
                <a:gridCol w="760000"/>
                <a:gridCol w="1080000"/>
                <a:gridCol w="1600000"/>
              </a:tblGrid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점수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기여 패턴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출현주기,…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3의배수, 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고저균형,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미출현, 출현주기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고저균형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0.90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0.67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합계균형, 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0.73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0.50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출현주기, 합계균형…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주기300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2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0.22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50" b="0">
                          <a:solidFill>
                            <a:srgbClr val="808080"/>
                          </a:solidFill>
                        </a:rPr>
                        <a:t>합계균형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2200" b="1">
                <a:solidFill>
                  <a:srgbClr val="1F3864"/>
                </a:solidFill>
              </a:rPr>
              <a:t>1227회차 자동 추천 5게임 · 로또 용지 표기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82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200" b="0">
                <a:solidFill>
                  <a:srgbClr val="808080"/>
                </a:solidFill>
              </a:rPr>
              <a:t>로또 용지(7열×7행) · 빨강 = 선택 번호 · 세로열 최대 2개</a:t>
            </a:r>
          </a:p>
        </p:txBody>
      </p:sp>
      <p:sp>
        <p:nvSpPr>
          <p:cNvPr id="4" name="lblA"/>
          <p:cNvSpPr txBox="1"/>
          <p:nvPr/>
        </p:nvSpPr>
        <p:spPr>
          <a:xfrm>
            <a:off x="400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A 게임</a:t>
            </a:r>
          </a:p>
        </p:txBody>
      </p:sp>
      <p:graphicFrame>
        <p:nvGraphicFramePr>
          <p:cNvPr id="5" name="gridA"/>
          <p:cNvGraphicFramePr/>
          <p:nvPr/>
        </p:nvGraphicFramePr>
        <p:xfrm>
          <a:off x="400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6" name="numA"/>
          <p:cNvSpPr txBox="1"/>
          <p:nvPr/>
        </p:nvSpPr>
        <p:spPr>
          <a:xfrm>
            <a:off x="400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07 15 21 27 36 40</a:t>
            </a:r>
          </a:p>
        </p:txBody>
      </p:sp>
      <p:sp>
        <p:nvSpPr>
          <p:cNvPr id="7" name="metaA"/>
          <p:cNvSpPr txBox="1"/>
          <p:nvPr/>
        </p:nvSpPr>
        <p:spPr>
          <a:xfrm>
            <a:off x="400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146 · 홀4:짝2</a:t>
            </a:r>
          </a:p>
        </p:txBody>
      </p:sp>
      <p:sp>
        <p:nvSpPr>
          <p:cNvPr id="8" name="lblB"/>
          <p:cNvSpPr txBox="1"/>
          <p:nvPr/>
        </p:nvSpPr>
        <p:spPr>
          <a:xfrm>
            <a:off x="2723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B 게임</a:t>
            </a:r>
          </a:p>
        </p:txBody>
      </p:sp>
      <p:graphicFrame>
        <p:nvGraphicFramePr>
          <p:cNvPr id="9" name="gridB"/>
          <p:cNvGraphicFramePr/>
          <p:nvPr/>
        </p:nvGraphicFramePr>
        <p:xfrm>
          <a:off x="2723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0" name="numB"/>
          <p:cNvSpPr txBox="1"/>
          <p:nvPr/>
        </p:nvSpPr>
        <p:spPr>
          <a:xfrm>
            <a:off x="2723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14 15 21 27 33 36</a:t>
            </a:r>
          </a:p>
        </p:txBody>
      </p:sp>
      <p:sp>
        <p:nvSpPr>
          <p:cNvPr id="11" name="metaB"/>
          <p:cNvSpPr txBox="1"/>
          <p:nvPr/>
        </p:nvSpPr>
        <p:spPr>
          <a:xfrm>
            <a:off x="2723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146 · 홀4:짝2</a:t>
            </a:r>
          </a:p>
        </p:txBody>
      </p:sp>
      <p:sp>
        <p:nvSpPr>
          <p:cNvPr id="12" name="lblC"/>
          <p:cNvSpPr txBox="1"/>
          <p:nvPr/>
        </p:nvSpPr>
        <p:spPr>
          <a:xfrm>
            <a:off x="5046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C 게임</a:t>
            </a:r>
          </a:p>
        </p:txBody>
      </p:sp>
      <p:graphicFrame>
        <p:nvGraphicFramePr>
          <p:cNvPr id="13" name="gridC"/>
          <p:cNvGraphicFramePr/>
          <p:nvPr/>
        </p:nvGraphicFramePr>
        <p:xfrm>
          <a:off x="5046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4" name="numC"/>
          <p:cNvSpPr txBox="1"/>
          <p:nvPr/>
        </p:nvSpPr>
        <p:spPr>
          <a:xfrm>
            <a:off x="5046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14 15 21 24 27 37</a:t>
            </a:r>
          </a:p>
        </p:txBody>
      </p:sp>
      <p:sp>
        <p:nvSpPr>
          <p:cNvPr id="15" name="metaC"/>
          <p:cNvSpPr txBox="1"/>
          <p:nvPr/>
        </p:nvSpPr>
        <p:spPr>
          <a:xfrm>
            <a:off x="5046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138 · 홀4:짝2</a:t>
            </a:r>
          </a:p>
        </p:txBody>
      </p:sp>
      <p:sp>
        <p:nvSpPr>
          <p:cNvPr id="16" name="lblD"/>
          <p:cNvSpPr txBox="1"/>
          <p:nvPr/>
        </p:nvSpPr>
        <p:spPr>
          <a:xfrm>
            <a:off x="7369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D 게임</a:t>
            </a:r>
          </a:p>
        </p:txBody>
      </p:sp>
      <p:graphicFrame>
        <p:nvGraphicFramePr>
          <p:cNvPr id="17" name="gridD"/>
          <p:cNvGraphicFramePr/>
          <p:nvPr/>
        </p:nvGraphicFramePr>
        <p:xfrm>
          <a:off x="7369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18" name="numD"/>
          <p:cNvSpPr txBox="1"/>
          <p:nvPr/>
        </p:nvSpPr>
        <p:spPr>
          <a:xfrm>
            <a:off x="7369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07 14 15 27 30 37</a:t>
            </a:r>
          </a:p>
        </p:txBody>
      </p:sp>
      <p:sp>
        <p:nvSpPr>
          <p:cNvPr id="19" name="metaD"/>
          <p:cNvSpPr txBox="1"/>
          <p:nvPr/>
        </p:nvSpPr>
        <p:spPr>
          <a:xfrm>
            <a:off x="7369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130 · 홀4:짝2</a:t>
            </a:r>
          </a:p>
        </p:txBody>
      </p:sp>
      <p:sp>
        <p:nvSpPr>
          <p:cNvPr id="20" name="lblE"/>
          <p:cNvSpPr txBox="1"/>
          <p:nvPr/>
        </p:nvSpPr>
        <p:spPr>
          <a:xfrm>
            <a:off x="9692000" y="135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600" b="1">
                <a:solidFill>
                  <a:srgbClr val="C00000"/>
                </a:solidFill>
              </a:rPr>
              <a:t>E 게임</a:t>
            </a:r>
          </a:p>
        </p:txBody>
      </p:sp>
      <p:graphicFrame>
        <p:nvGraphicFramePr>
          <p:cNvPr id="21" name="gridE"/>
          <p:cNvGraphicFramePr/>
          <p:nvPr/>
        </p:nvGraphicFramePr>
        <p:xfrm>
          <a:off x="9692000" y="1750000"/>
          <a:ext cx="2100000" cy="2100000"/>
        </p:xfrm>
        <a:graphic>
          <a:graphicData uri="http://schemas.openxmlformats.org/drawingml/2006/table">
            <a:tbl>
              <a:tblPr firstRow="0" bandRow="0"/>
              <a:tblGrid>
                <a:gridCol w="300000"/>
                <a:gridCol w="300000"/>
                <a:gridCol w="300000"/>
                <a:gridCol w="300000"/>
                <a:gridCol w="300000"/>
                <a:gridCol w="300000"/>
                <a:gridCol w="3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1">
                          <a:solidFill>
                            <a:srgbClr val="FFFFFF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C00000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1100" b="0">
                          <a:solidFill>
                            <a:srgbClr val="333333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22" name="numE"/>
          <p:cNvSpPr txBox="1"/>
          <p:nvPr/>
        </p:nvSpPr>
        <p:spPr>
          <a:xfrm>
            <a:off x="9692000" y="3950000"/>
            <a:ext cx="2100000" cy="40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100" b="1">
                <a:solidFill>
                  <a:srgbClr val="1F3864"/>
                </a:solidFill>
              </a:rPr>
              <a:t>07 15 24 27 36 37</a:t>
            </a:r>
          </a:p>
        </p:txBody>
      </p:sp>
      <p:sp>
        <p:nvSpPr>
          <p:cNvPr id="23" name="metaE"/>
          <p:cNvSpPr txBox="1"/>
          <p:nvPr/>
        </p:nvSpPr>
        <p:spPr>
          <a:xfrm>
            <a:off x="9692000" y="4370000"/>
            <a:ext cx="2100000" cy="360000"/>
          </a:xfrm>
          <a:prstGeom prst="rect">
            <a:avLst/>
          </a:prstGeom>
        </p:spPr>
        <p:txBody>
          <a:bodyPr wrap="square" anchor="t"/>
          <a:lstStyle/>
          <a:p>
            <a:pPr algn="ctr"/>
            <a:r>
              <a:rPr lang="ko-KR" sz="1000" b="0">
                <a:solidFill>
                  <a:srgbClr val="808080"/>
                </a:solidFill>
              </a:rPr>
              <a:t>합 146 · 홀4:짝2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100회 · 1127~1226회)  (1/3)</a:t>
            </a:r>
          </a:p>
        </p:txBody>
      </p:sp>
      <p:sp>
        <p:nvSpPr>
          <p:cNvPr id="3" name="sub"/>
          <p:cNvSpPr txBox="1"/>
          <p:nvPr/>
        </p:nvSpPr>
        <p:spPr>
          <a:xfrm>
            <a:off x="400000" y="74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000" b="0">
                <a:solidFill>
                  <a:srgbClr val="808080"/>
                </a:solidFill>
              </a:rPr>
              <a:t>적중 = 그 순위 추천번호가 당첨이었던 횟수  ·  간격(차이수) 형식: 차이(전회차→후회차)  ·  다음간격 = 1227회 − 마지막 재출현회차  ·  ◎ = 다음간격 과거 3회↑ 반복 / ○ = 주기보유 / − = 없음</a:t>
            </a:r>
          </a:p>
        </p:txBody>
      </p:sp>
      <p:sp>
        <p:nvSpPr>
          <p:cNvPr id="4" name="banner"/>
          <p:cNvSpPr txBox="1"/>
          <p:nvPr/>
        </p:nvSpPr>
        <p:spPr>
          <a:xfrm>
            <a:off x="400000" y="1150000"/>
            <a:ext cx="11392000" cy="36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100" b="1">
                <a:solidFill>
                  <a:srgbClr val="C00000"/>
                </a:solidFill>
              </a:rPr>
              <a:t>◎ 1227회 재출현 가능성 높음 (다음간격이 과거 3회 이상 반복): 7번(순위43·다음간격1·과거4회반복)  27번(순위5·다음간격1·과거3회반복)  21번(순위18·다음간격5·과거3회반복)  14번(순위20·다음간격2·과거3회반복)  37번(순위33·다음간격2·과거3회반복)</a:t>
            </a:r>
          </a:p>
        </p:txBody>
      </p:sp>
      <p:graphicFrame>
        <p:nvGraphicFramePr>
          <p:cNvPr id="5" name="rh0"/>
          <p:cNvGraphicFramePr/>
          <p:nvPr/>
        </p:nvGraphicFramePr>
        <p:xfrm>
          <a:off x="486000" y="16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2(1135→1137),6(1137→1143),17(1143→1160),13(1160→1173),15(1173→1188),11(1188→1199),2(1199→1201),6(1201→1207),10(1207→1217),4(1217→1221),3(1221→1224)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30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4(1127→1131),3(1131→1134),5(1134→1139),24(1139→1163),1(1163→1164),2(1164→1166),26(1166→1192),15(1192→1207),8(1207→1215),9(1215→1224)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333333"/>
                          </a:solidFill>
                        </a:rPr>
                        <a:t>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BF8F00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21(1130→1151),10(1151→1161),1(1161→1162),3(1162→1165),9(1165→1174),4(1174→1178),1(1178→1179),2(1179→1181),1(1181→1182),12(1182→1194),2(1194→1196),5(1196→1201),9(1201→1210),6(1210→1216),3(1216→1219),5(1219→1224)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6(1139→1145),6(1145→1151),17(1151→1168),11(1168→1179),1(1179→1180),2(1180→1182),1(1182→1183),10(1183→1193),2(1193→1195),8(1195→1203),15(1203→1218),7(1218→1225)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8(1133→1141),3(1141→1144),5(1144→1149),1(1149→1150),2(1150→1152),6(1152→1158),4(1158→1162),3(1162→1165),18(1165→1183),5(1183→1188),5(1188→1193),1(1193→1194),2(1194→1196),3(1196→1199),15(1199→1214),8(1214→1222),1(1222→1223),3(1223→1226)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1(1134→1135),22(1135→1157),2(1157→1159),5(1159→1164),1(1164→1165),2(1165→1167),1(1167→1168),12(1168→1180),6(1180→1186),15(1186→1201),1(1201→1202),16(1202→1218),7(1218→1225)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1(1132→1133),1(1133→1134),3(1134→1137),3(1137→1140),36(1140→1176),1(1176→1177),6(1177→1183),9(1183→1192),2(1192→1194),6(1194→1200),2(1200→1202),1(1202→1203),3(1203→1206),3(1206→1209),11(1209→1220),1(1220→1221)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20(1137→1157),1(1157→1158),11(1158→1169),2(1169→1171),33(1171→1204),1(1204→1205),5(1205→1210)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7(1128→1135),12(1135→1147),19(1147→1166),11(1166→1177),3(1177→1180),18(1180→1198),14(1198→1212),8(1212→1220)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10(1131→1141),8(1141→1149),2(1149→1151),2(1151→1153),4(1153→1157),2(1157→1159),14(1159→1173),15(1173→1188),5(1188→1193),4(1193→1197),10(1197→1207),7(1207→1214),5(1214→1219)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2(1128→1130),6(1130→1136),11(1136→1147),13(1147→1160),2(1160→1162),8(1162→1170),2(1170→1172),2(1172→1174),9(1174→1183),8(1183→1191),8(1191→1199),10(1199→1209),2(1209→1211),1(1211→1212),3(1212→1215),6(1215→1221)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1(1142→1143),5(1143→1148),8(1148→1156),2(1156→1158),4(1158→1162),11(1162→1173),7(1173→1180),1(1180→1181),15(1181→1196),5(1196→1201),14(1201→1215),9(1215→1224)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18(1128→1146),1(1146→1147),2(1147→1149),1(1149→1150),2(1150→1152),7(1152→1159),8(1159→1167),9(1167→1176),8(1176→1184),5(1184→1189),3(1189→1192),6(1192→1198),12(1198→1210),3(1210→1213),6(1213→1219),2(1219→1221)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1(1168→1169),19(1169→1188),3(1188→1191),9(1191→1200),5(1200→1205),3(1205→1208),6(1208→1214),2(1214→1216),1(1216→1217)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14(1127→1141),4(1141→1145),2(1145→1147),9(1147→1156),15(1156→1171),1(1171→1172),1(1172→1173),16(1173→1189),6(1189→1195),23(1195→1218),3(1218→1221)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100회 · 1127~1226회)  (2/3)</a:t>
            </a:r>
          </a:p>
        </p:txBody>
      </p:sp>
      <p:graphicFrame>
        <p:nvGraphicFramePr>
          <p:cNvPr id="3" name="rh1"/>
          <p:cNvGraphicFramePr/>
          <p:nvPr/>
        </p:nvGraphicFramePr>
        <p:xfrm>
          <a:off x="486000" y="8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5(1131→1136),1(1136→1137),2(1137→1139),5(1139→1144),1(1144→1145),6(1145→1151),4(1151→1155),13(1155→1168),3(1168→1171),14(1171→1185),4(1185→1189),7(1189→1196),1(1196→1197),5(1197→1202),1(1202→1203),1(1203→1204),9(1204→1213),1(1213→1214),5(1214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9(1127→1136),7(1136→1143),5(1143→1148),2(1148→1150),5(1150→1155),15(1155→1170),7(1170→1177),1(1177→1178),5(1178→1183),7(1183→1190),1(1190→1191),9(1191→1200),1(1200→1201),5(1201→1206),3(1206→1209),3(1209→1212)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9(1130→1139),5(1139→1144),6(1144→1150),2(1150→1152),4(1152→1156),4(1156→1160),15(1160→1175),4(1175→1179),4(1179→1183),17(1183→1200),3(1200→1203),5(1203→1208),3(1208→1211),5(1211→1216),6(1216→1222)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19위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2(1136→1138),1(1138→1139),3(1139→1142),2(1142→1144),14(1144→1158),7(1158→1165),3(1165→1168),3(1168→1171),11(1171→1182),11(1182→1193),1(1193→1194),1(1194→1195),2(1195→1197),1(1197→1198),1(1198→1199)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1(1129→1130),1(1130→1131),6(1131→1137),9(1137→1146),2(1146→1148),4(1148→1152),1(1152→1153),2(1153→1155),5(1155→1160),3(1160→1163),25(1163→1188),10(1188→1198),17(1198→1215),8(1215→1223),2(1223→1225)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7(1127→1134),6(1134→1140),2(1140→1142),6(1142→1148),2(1148→1150),5(1150→1155),4(1155→1159),22(1159→1181),4(1181→1185),19(1185→1204),4(1204→1208),1(1208→1209),2(1209→1211)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4(1152→1156),4(1156→1160),4(1160→1164),5(1164→1169),13(1169→1182),11(1182→1193),2(1193→1195),12(1195→1207),7(1207→1214),8(1214→1222),4(1222→1226)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8(1132→1140),3(1140→1143),6(1143→1149),5(1149→1154),9(1154→1163),1(1163→1164),23(1164→1187),3(1187→1190),5(1190→1195),3(1195→1198),16(1198→1214),9(1214→1223)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4(1144→1148),10(1148→1158),9(1158→1167),3(1167→1170),5(1170→1175),15(1175→1190),6(1190→1196),3(1196→1199),17(1199→1216),7(1216→1223)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17(1131→1148),27(1148→1175),1(1175→1176),9(1176→1185),8(1185→1193),15(1193→1208),16(1208→1224)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C0C0"/>
                          </a:solidFill>
                        </a:rPr>
                        <a:t>-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1(1136→1137),5(1137→1142),24(1142→1166),9(1166→1175),10(1175→1185),6(1185→1191),1(1191→1192),14(1192→1206),1(1206→1207),6(1207→1213)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21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(1128→1132),3(1132→1135),3(1135→1138),8(1138→1146),6(1146→1152),14(1152→1166),9(1166→1175),2(1175→1177),5(1177→1182),7(1182→1189),1(1189→1190),1(1190→1191),1(1191→1192),5(1192→1197),10(1197→1207),2(1207→1209),2(1209→1211),1(1211→1212),4(1212→1216),3(1216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13(1127→1140),2(1140→1142),1(1142→1143),2(1143→1145),2(1145→1147),4(1147→1151),3(1151→1154),3(1154→1157),3(1157→1160),10(1160→1170),8(1170→1178),21(1178→1199),19(1199→1218)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29위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7(1139→1146),15(1146→1161),6(1161→1167),36(1167→1203),7(1203→1210),15(1210→1225)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15(1149→1164),5(1164→1169),3(1169→1172),13(1172→1185),2(1185→1187),22(1187→1209),4(1209→1213),2(1213→1215)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00000" y="200000"/>
            <a:ext cx="11392000" cy="650000"/>
          </a:xfrm>
          <a:prstGeom prst="rect">
            <a:avLst/>
          </a:prstGeom>
        </p:spPr>
        <p:txBody>
          <a:bodyPr wrap="square" anchor="t"/>
          <a:lstStyle/>
          <a:p>
            <a:pPr algn="l"/>
            <a:r>
              <a:rPr lang="ko-KR" sz="1700" b="1">
                <a:solidFill>
                  <a:srgbClr val="1F3864"/>
                </a:solidFill>
              </a:rPr>
              <a:t>순위별 당첨 재출현 + 간격(차이수·회차) 분석 (최근 100회 · 1127~1226회)  (3/3)</a:t>
            </a:r>
          </a:p>
        </p:txBody>
      </p:sp>
      <p:graphicFrame>
        <p:nvGraphicFramePr>
          <p:cNvPr id="3" name="rh2"/>
          <p:cNvGraphicFramePr/>
          <p:nvPr/>
        </p:nvGraphicFramePr>
        <p:xfrm>
          <a:off x="486000" y="820000"/>
          <a:ext cx="11220000" cy="4800000"/>
        </p:xfrm>
        <a:graphic>
          <a:graphicData uri="http://schemas.openxmlformats.org/drawingml/2006/table">
            <a:tbl>
              <a:tblPr firstRow="1" bandRow="1"/>
              <a:tblGrid>
                <a:gridCol w="600000"/>
                <a:gridCol w="620000"/>
                <a:gridCol w="600000"/>
                <a:gridCol w="8000000"/>
                <a:gridCol w="700000"/>
                <a:gridCol w="700000"/>
              </a:tblGrid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순위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번호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적중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간격(차이수) — 차이(전회차→후회차)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다음간격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FFFFFF"/>
                          </a:solidFill>
                        </a:rPr>
                        <a:t>가능성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1F3864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2(1130→1132),2(1132→1134),6(1134→1140),3(1140→1143),15(1143→1158),3(1158→1161),1(1161→1162),2(1162→1164),6(1164→1170),14(1170→1184),6(1184→1190),8(1190→1198),4(1198→1202),3(1202→1205),13(1205→1218)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7(1135→1142),11(1142→1153),1(1153→1154),12(1154→1166),6(1166→1172),2(1172→1174),12(1174→1186),1(1186→1187),7(1187→1194),12(1194→1206),14(1206→1220),3(1220→1223),1(1223→1224)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37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10(1128→1138),3(1138→1141),6(1141→1147),10(1147→1157),2(1157→1159),15(1159→1174),12(1174→1186),20(1186→1206),5(1206→1211),2(1211→1213),5(1213→1218),2(1218→1220),5(1220→1225)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7(1133→1140),4(1140→1144),9(1144→1153),3(1153→1156),15(1156→1171),8(1171→1179),2(1179→1181),8(1181→1189),13(1189→1202),2(1202→1204),1(1204→1205),3(1205→1208),3(1208→1211),1(1211→1212),5(1212→1217),2(1217→1219)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4(1134→1138),25(1138→1163),6(1163→1169),20(1169→1189),1(1189→1190),5(1190→1195),5(1195→1200),12(1200→1212),14(1212→1226)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36위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2(1129→1131),2(1131→1133),21(1133→1154),7(1154→1161),1(1161→1162),3(1162→1165),11(1165→1176),1(1176→1177),4(1177→1181),1(1181→1182),2(1182→1184),3(1184→1187),7(1187→1194),11(1194→1205),3(1205→1208),14(1208→1222)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37위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3(1129→1132),1(1132→1133),5(1133→1138),7(1138→1145),9(1145→1154),1(1154→1155),16(1155→1171),15(1171→1186),36(1186→1222),4(1222→1226)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38위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20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12(1129→1141),12(1141→1153),1(1153→1154),22(1154→1176),8(1176→1184),16(1184→1200),2(1200→1202)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39위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16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4(1129→1133),5(1133→1138),18(1138→1156),1(1156→1157),6(1157→1163),7(1163→1170),4(1170→1174),4(1174→1178),6(1178→1184),1(1184→1185),18(1185→1203)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40위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18(1128→1146),21(1146→1167),6(1167→1173),1(1173→1174),10(1174→1184),3(1184→1187),17(1187→1204),2(1204→1206),17(1206→1223)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41위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8(1151→1159),2(1159→1161),5(1161→1166),10(1166→1176),2(1176→1178),1(1178→1179),18(1179→1197),8(1197→1205),12(1205→1217),3(1217→1220),6(1220→1226)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42위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11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9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13(1132→1145),4(1145→1149),20(1149→1169),3(1169→1172),3(1172→1175),5(1175→1180),17(1180→1197),7(1197→1204)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23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43위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17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3(1127→1130),20(1130→1150),3(1150→1153),19(1153→1172),1(1172→1173),8(1173→1181),5(1181→1186),1(1186→1187),1(1187→1188),3(1188→1191),10(1191→1201),9(1201→1210),6(1210→1216),4(1216→1220),5(1220→1225),1(1225→1226)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C00000"/>
                          </a:solidFill>
                        </a:rPr>
                        <a:t>◎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44위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4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12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15(1146→1161),2(1161→1163),2(1163→1165),2(1165→1167),19(1167→1186),6(1186→1192),4(1192→1196),14(1196→1210),7(1210→1217),4(1217→1221),1(1221→1222)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5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  <a:tr h="300000"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0">
                          <a:solidFill>
                            <a:srgbClr val="333333"/>
                          </a:solidFill>
                        </a:rPr>
                        <a:t>45위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00" b="1">
                          <a:solidFill>
                            <a:srgbClr val="1F3864"/>
                          </a:solidFill>
                        </a:rPr>
                        <a:t>8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C00000"/>
                          </a:solidFill>
                        </a:rPr>
                        <a:t>13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l"/>
                      <a:r>
                        <a:rPr lang="ko-KR" sz="700" b="0">
                          <a:solidFill>
                            <a:srgbClr val="808080"/>
                          </a:solidFill>
                        </a:rPr>
                        <a:t>6(1129→1135),1(1135→1136),5(1136→1141),14(1141→1155),13(1155→1168),9(1168→1177),1(1177→1178),1(1178→1179),1(1179→1180),33(1180→1213),2(1213→1215),2(1215→1217)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850" b="1">
                          <a:solidFill>
                            <a:srgbClr val="1F3864"/>
                          </a:solidFill>
                        </a:rPr>
                        <a:t>10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  <a:tc>
                  <a:txBody>
                    <a:bodyPr lIns="9525" rIns="9525" tIns="6350" bIns="6350" anchor="ctr"/>
                    <a:lstStyle/>
                    <a:p>
                      <a:pPr algn="ctr"/>
                      <a:r>
                        <a:rPr lang="ko-KR" sz="950" b="1">
                          <a:solidFill>
                            <a:srgbClr val="1F3864"/>
                          </a:solidFill>
                        </a:rPr>
                        <a:t>○</a:t>
                      </a:r>
                    </a:p>
                  </a:txBody>
                  <a:tcPr anchor="ctr" marL="0" marR="0" marT="0" marB="0">
                    <a:lnL w="6350">
                      <a:solidFill>
                        <a:srgbClr val="BBBBBB"/>
                      </a:solidFill>
                    </a:lnL>
                    <a:lnR w="6350">
                      <a:solidFill>
                        <a:srgbClr val="BBBBBB"/>
                      </a:solidFill>
                    </a:lnR>
                    <a:lnT w="6350">
                      <a:solidFill>
                        <a:srgbClr val="BBBBBB"/>
                      </a:solidFill>
                    </a:lnT>
                    <a:lnB w="6350">
                      <a:solidFill>
                        <a:srgbClr val="BBBBB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Malgun Gothic"/>
        <a:cs typeface="Calibri"/>
      </a:majorFont>
      <a:minorFont>
        <a:latin typeface="Calibri"/>
        <a:ea typeface="Malgun Gothic"/>
        <a:cs typeface="Calibr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