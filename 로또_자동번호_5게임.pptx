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7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2400" b="1">
                <a:solidFill>
                  <a:srgbClr val="1F3864"/>
                </a:solidFill>
              </a:rPr>
              <a:t>1227회차 자동 추천 5게임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00000" y="900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300" b="0">
                <a:solidFill>
                  <a:srgbClr val="808080"/>
                </a:solidFill>
              </a:rPr>
              <a:t>로또 용지(7열×7행) 표기 · 빨강 = 선택 번호 · 세로열 최대 2개</a:t>
            </a:r>
          </a:p>
        </p:txBody>
      </p:sp>
      <p:sp>
        <p:nvSpPr>
          <p:cNvPr id="10" name="lblA"/>
          <p:cNvSpPr txBox="1"/>
          <p:nvPr/>
        </p:nvSpPr>
        <p:spPr>
          <a:xfrm>
            <a:off x="400000" y="1280000"/>
            <a:ext cx="2100000" cy="38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A 게임</a:t>
            </a:r>
          </a:p>
        </p:txBody>
      </p:sp>
      <p:graphicFrame>
        <p:nvGraphicFramePr>
          <p:cNvPr id="11" name="gridA"/>
          <p:cNvGraphicFramePr/>
          <p:nvPr/>
        </p:nvGraphicFramePr>
        <p:xfrm>
          <a:off x="400000" y="170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2" name="numA"/>
          <p:cNvSpPr txBox="1"/>
          <p:nvPr/>
        </p:nvSpPr>
        <p:spPr>
          <a:xfrm>
            <a:off x="400000" y="390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18 21 30 33 35 36</a:t>
            </a:r>
          </a:p>
        </p:txBody>
      </p:sp>
      <p:sp>
        <p:nvSpPr>
          <p:cNvPr id="13" name="metaA"/>
          <p:cNvSpPr txBox="1"/>
          <p:nvPr/>
        </p:nvSpPr>
        <p:spPr>
          <a:xfrm>
            <a:off x="400000" y="432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173 · 홀3:짝3</a:t>
            </a:r>
          </a:p>
        </p:txBody>
      </p:sp>
      <p:sp>
        <p:nvSpPr>
          <p:cNvPr id="14" name="lblB"/>
          <p:cNvSpPr txBox="1"/>
          <p:nvPr/>
        </p:nvSpPr>
        <p:spPr>
          <a:xfrm>
            <a:off x="2723000" y="1280000"/>
            <a:ext cx="2100000" cy="38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B 게임</a:t>
            </a:r>
          </a:p>
        </p:txBody>
      </p:sp>
      <p:graphicFrame>
        <p:nvGraphicFramePr>
          <p:cNvPr id="15" name="gridB"/>
          <p:cNvGraphicFramePr/>
          <p:nvPr/>
        </p:nvGraphicFramePr>
        <p:xfrm>
          <a:off x="2723000" y="170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6" name="numB"/>
          <p:cNvSpPr txBox="1"/>
          <p:nvPr/>
        </p:nvSpPr>
        <p:spPr>
          <a:xfrm>
            <a:off x="2723000" y="390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03 21 23 34 36 42</a:t>
            </a:r>
          </a:p>
        </p:txBody>
      </p:sp>
      <p:sp>
        <p:nvSpPr>
          <p:cNvPr id="17" name="metaB"/>
          <p:cNvSpPr txBox="1"/>
          <p:nvPr/>
        </p:nvSpPr>
        <p:spPr>
          <a:xfrm>
            <a:off x="2723000" y="432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159 · 홀3:짝3</a:t>
            </a:r>
          </a:p>
        </p:txBody>
      </p:sp>
      <p:sp>
        <p:nvSpPr>
          <p:cNvPr id="18" name="lblC"/>
          <p:cNvSpPr txBox="1"/>
          <p:nvPr/>
        </p:nvSpPr>
        <p:spPr>
          <a:xfrm>
            <a:off x="5046000" y="1280000"/>
            <a:ext cx="2100000" cy="38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C 게임</a:t>
            </a:r>
          </a:p>
        </p:txBody>
      </p:sp>
      <p:graphicFrame>
        <p:nvGraphicFramePr>
          <p:cNvPr id="19" name="gridC"/>
          <p:cNvGraphicFramePr/>
          <p:nvPr/>
        </p:nvGraphicFramePr>
        <p:xfrm>
          <a:off x="5046000" y="170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0" name="numC"/>
          <p:cNvSpPr txBox="1"/>
          <p:nvPr/>
        </p:nvSpPr>
        <p:spPr>
          <a:xfrm>
            <a:off x="5046000" y="390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21 23 24 30 33 40</a:t>
            </a:r>
          </a:p>
        </p:txBody>
      </p:sp>
      <p:sp>
        <p:nvSpPr>
          <p:cNvPr id="21" name="metaC"/>
          <p:cNvSpPr txBox="1"/>
          <p:nvPr/>
        </p:nvSpPr>
        <p:spPr>
          <a:xfrm>
            <a:off x="5046000" y="432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171 · 홀3:짝3</a:t>
            </a:r>
          </a:p>
        </p:txBody>
      </p:sp>
      <p:sp>
        <p:nvSpPr>
          <p:cNvPr id="22" name="lblD"/>
          <p:cNvSpPr txBox="1"/>
          <p:nvPr/>
        </p:nvSpPr>
        <p:spPr>
          <a:xfrm>
            <a:off x="7369000" y="1280000"/>
            <a:ext cx="2100000" cy="38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D 게임</a:t>
            </a:r>
          </a:p>
        </p:txBody>
      </p:sp>
      <p:graphicFrame>
        <p:nvGraphicFramePr>
          <p:cNvPr id="23" name="gridD"/>
          <p:cNvGraphicFramePr/>
          <p:nvPr/>
        </p:nvGraphicFramePr>
        <p:xfrm>
          <a:off x="7369000" y="170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4" name="numD"/>
          <p:cNvSpPr txBox="1"/>
          <p:nvPr/>
        </p:nvSpPr>
        <p:spPr>
          <a:xfrm>
            <a:off x="7369000" y="390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06 21 30 33 38 42</a:t>
            </a:r>
          </a:p>
        </p:txBody>
      </p:sp>
      <p:sp>
        <p:nvSpPr>
          <p:cNvPr id="25" name="metaD"/>
          <p:cNvSpPr txBox="1"/>
          <p:nvPr/>
        </p:nvSpPr>
        <p:spPr>
          <a:xfrm>
            <a:off x="7369000" y="432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170 · 홀2:짝4</a:t>
            </a:r>
          </a:p>
        </p:txBody>
      </p:sp>
      <p:sp>
        <p:nvSpPr>
          <p:cNvPr id="26" name="lblE"/>
          <p:cNvSpPr txBox="1"/>
          <p:nvPr/>
        </p:nvSpPr>
        <p:spPr>
          <a:xfrm>
            <a:off x="9692000" y="1280000"/>
            <a:ext cx="2100000" cy="38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E 게임</a:t>
            </a:r>
          </a:p>
        </p:txBody>
      </p:sp>
      <p:graphicFrame>
        <p:nvGraphicFramePr>
          <p:cNvPr id="27" name="gridE"/>
          <p:cNvGraphicFramePr/>
          <p:nvPr/>
        </p:nvGraphicFramePr>
        <p:xfrm>
          <a:off x="9692000" y="170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9525" bIns="9525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8" name="numE"/>
          <p:cNvSpPr txBox="1"/>
          <p:nvPr/>
        </p:nvSpPr>
        <p:spPr>
          <a:xfrm>
            <a:off x="9692000" y="390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15 23 24 31 33 43</a:t>
            </a:r>
          </a:p>
        </p:txBody>
      </p:sp>
      <p:sp>
        <p:nvSpPr>
          <p:cNvPr id="29" name="metaE"/>
          <p:cNvSpPr txBox="1"/>
          <p:nvPr/>
        </p:nvSpPr>
        <p:spPr>
          <a:xfrm>
            <a:off x="9692000" y="432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169 · 홀5:짝1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Malgun Gothic"/>
        <a:cs typeface="Calibri"/>
      </a:majorFont>
      <a:minorFont>
        <a:latin typeface="Calibri"/>
        <a:ea typeface="Malgun Gothic"/>
        <a:cs typeface="Calibr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